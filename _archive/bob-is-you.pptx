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36"/>
        </a:solidFill>
        <a:effectLst/>
      </p:bgPr>
    </p:bg>
    <p:spTree>
      <p:nvGrpSpPr>
        <p:cNvPr id="1" name=""/>
        <p:cNvGrpSpPr/>
        <p:nvPr/>
      </p:nvGrpSpPr>
      <p:grpSpPr/>
      <p:sp>
        <p:nvSpPr>
          <p:cNvPr id="2" name="TextBox 1"/>
          <p:cNvSpPr txBox="1"/>
          <p:nvPr/>
        </p:nvSpPr>
        <p:spPr>
          <a:xfrm>
            <a:off x="0" y="1097280"/>
            <a:ext cx="12191969" cy="457200"/>
          </a:xfrm>
          <a:prstGeom prst="rect">
            <a:avLst/>
          </a:prstGeom>
          <a:noFill/>
        </p:spPr>
        <p:txBody>
          <a:bodyPr wrap="square" lIns="0" rIns="0" tIns="0" bIns="0" anchor="t">
            <a:spAutoFit/>
          </a:bodyPr>
          <a:lstStyle/>
          <a:p>
            <a:pPr algn="ctr"/>
            <a:r>
              <a:rPr sz="2000" b="0" i="0" spc="200">
                <a:solidFill>
                  <a:srgbClr val="D4A24C"/>
                </a:solidFill>
                <a:latin typeface="Georgia"/>
              </a:rPr>
              <a:t>·   ✦   ·   ✦   ·   ✦   ·</a:t>
            </a:r>
          </a:p>
        </p:txBody>
      </p:sp>
      <p:sp>
        <p:nvSpPr>
          <p:cNvPr id="3" name="TextBox 2"/>
          <p:cNvSpPr txBox="1"/>
          <p:nvPr/>
        </p:nvSpPr>
        <p:spPr>
          <a:xfrm>
            <a:off x="640080" y="2331720"/>
            <a:ext cx="10881360" cy="1463040"/>
          </a:xfrm>
          <a:prstGeom prst="rect">
            <a:avLst/>
          </a:prstGeom>
          <a:noFill/>
        </p:spPr>
        <p:txBody>
          <a:bodyPr wrap="square" lIns="0" rIns="0" tIns="0" bIns="0" anchor="t">
            <a:spAutoFit/>
          </a:bodyPr>
          <a:lstStyle/>
          <a:p>
            <a:pPr algn="ctr"/>
            <a:r>
              <a:rPr sz="5800" b="1" i="0" spc="-50">
                <a:solidFill>
                  <a:srgbClr val="FBF8F1"/>
                </a:solidFill>
                <a:latin typeface="Georgia"/>
              </a:rPr>
              <a:t>Bob is You: You are Bob</a:t>
            </a:r>
          </a:p>
        </p:txBody>
      </p:sp>
      <p:sp>
        <p:nvSpPr>
          <p:cNvPr id="4" name="TextBox 3"/>
          <p:cNvSpPr txBox="1"/>
          <p:nvPr/>
        </p:nvSpPr>
        <p:spPr>
          <a:xfrm>
            <a:off x="640080" y="3840480"/>
            <a:ext cx="10881360" cy="502920"/>
          </a:xfrm>
          <a:prstGeom prst="rect">
            <a:avLst/>
          </a:prstGeom>
          <a:noFill/>
        </p:spPr>
        <p:txBody>
          <a:bodyPr wrap="square" lIns="0" rIns="0" tIns="0" bIns="0" anchor="t">
            <a:spAutoFit/>
          </a:bodyPr>
          <a:lstStyle/>
          <a:p>
            <a:pPr algn="ctr"/>
            <a:r>
              <a:rPr sz="2200" b="0" i="1">
                <a:solidFill>
                  <a:srgbClr val="D4A24C"/>
                </a:solidFill>
                <a:latin typeface="Georgia"/>
              </a:rPr>
              <a:t>An Integrated Guide to the Five Dimensions</a:t>
            </a:r>
          </a:p>
        </p:txBody>
      </p:sp>
      <p:sp>
        <p:nvSpPr>
          <p:cNvPr id="5" name="TextBox 4"/>
          <p:cNvSpPr txBox="1"/>
          <p:nvPr/>
        </p:nvSpPr>
        <p:spPr>
          <a:xfrm>
            <a:off x="0" y="4572000"/>
            <a:ext cx="12191969" cy="457200"/>
          </a:xfrm>
          <a:prstGeom prst="rect">
            <a:avLst/>
          </a:prstGeom>
          <a:noFill/>
        </p:spPr>
        <p:txBody>
          <a:bodyPr wrap="square" lIns="0" rIns="0" tIns="0" bIns="0" anchor="t">
            <a:spAutoFit/>
          </a:bodyPr>
          <a:lstStyle/>
          <a:p>
            <a:pPr algn="ctr"/>
            <a:r>
              <a:rPr sz="2000" b="0" i="0" spc="200">
                <a:solidFill>
                  <a:srgbClr val="D4A24C"/>
                </a:solidFill>
                <a:latin typeface="Georgia"/>
              </a:rPr>
              <a:t>·   ✦   ·   ✦   ·   ✦   ·</a:t>
            </a:r>
          </a:p>
        </p:txBody>
      </p:sp>
      <p:sp>
        <p:nvSpPr>
          <p:cNvPr id="6" name="TextBox 5"/>
          <p:cNvSpPr txBox="1"/>
          <p:nvPr/>
        </p:nvSpPr>
        <p:spPr>
          <a:xfrm>
            <a:off x="640080" y="6080760"/>
            <a:ext cx="10881360" cy="365760"/>
          </a:xfrm>
          <a:prstGeom prst="rect">
            <a:avLst/>
          </a:prstGeom>
          <a:noFill/>
        </p:spPr>
        <p:txBody>
          <a:bodyPr wrap="square" lIns="0" rIns="0" tIns="0" bIns="0" anchor="t">
            <a:spAutoFit/>
          </a:bodyPr>
          <a:lstStyle/>
          <a:p>
            <a:pPr algn="ctr"/>
            <a:r>
              <a:rPr sz="1200" b="0" i="1" spc="150">
                <a:solidFill>
                  <a:srgbClr val="8D97AB"/>
                </a:solidFill>
                <a:latin typeface="Calibri"/>
              </a:rPr>
              <a:t>WHO 1948  ·  Engel 1977  ·  Hettler 1976  ·  SAMHSA today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40080" y="502920"/>
            <a:ext cx="10972800" cy="365760"/>
          </a:xfrm>
          <a:prstGeom prst="rect">
            <a:avLst/>
          </a:prstGeom>
          <a:noFill/>
        </p:spPr>
        <p:txBody>
          <a:bodyPr wrap="square" lIns="0" rIns="0" tIns="0" bIns="0" anchor="t">
            <a:spAutoFit/>
          </a:bodyPr>
          <a:lstStyle/>
          <a:p>
            <a:pPr algn="l"/>
            <a:r>
              <a:rPr sz="1100" b="1" i="0" spc="250">
                <a:solidFill>
                  <a:srgbClr val="D4A24C"/>
                </a:solidFill>
                <a:latin typeface="Calibri"/>
              </a:rPr>
              <a:t>OPENING</a:t>
            </a:r>
          </a:p>
        </p:txBody>
      </p:sp>
      <p:sp>
        <p:nvSpPr>
          <p:cNvPr id="3" name="TextBox 2"/>
          <p:cNvSpPr txBox="1"/>
          <p:nvPr/>
        </p:nvSpPr>
        <p:spPr>
          <a:xfrm>
            <a:off x="640080" y="868680"/>
            <a:ext cx="10972800" cy="914400"/>
          </a:xfrm>
          <a:prstGeom prst="rect">
            <a:avLst/>
          </a:prstGeom>
          <a:noFill/>
        </p:spPr>
        <p:txBody>
          <a:bodyPr wrap="square" lIns="0" rIns="0" tIns="0" bIns="0" anchor="t">
            <a:spAutoFit/>
          </a:bodyPr>
          <a:lstStyle/>
          <a:p>
            <a:pPr algn="l"/>
            <a:r>
              <a:rPr sz="4000" b="1" i="0">
                <a:solidFill>
                  <a:srgbClr val="0F1B36"/>
                </a:solidFill>
                <a:latin typeface="Georgia"/>
              </a:rPr>
              <a:t>You meet yourself in pieces.</a:t>
            </a:r>
          </a:p>
        </p:txBody>
      </p:sp>
      <p:sp>
        <p:nvSpPr>
          <p:cNvPr id="4" name="Rectangle 3"/>
          <p:cNvSpPr/>
          <p:nvPr/>
        </p:nvSpPr>
        <p:spPr>
          <a:xfrm>
            <a:off x="640080" y="1783080"/>
            <a:ext cx="640080" cy="457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331720"/>
            <a:ext cx="10058400" cy="502920"/>
          </a:xfrm>
          <a:prstGeom prst="rect">
            <a:avLst/>
          </a:prstGeom>
          <a:noFill/>
        </p:spPr>
        <p:txBody>
          <a:bodyPr wrap="square" lIns="0" rIns="0" tIns="0" bIns="0" anchor="t">
            <a:spAutoFit/>
          </a:bodyPr>
          <a:lstStyle/>
          <a:p>
            <a:pPr algn="l">
              <a:lnSpc>
                <a:spcPct val="120000"/>
              </a:lnSpc>
            </a:pPr>
            <a:r>
              <a:rPr sz="2200" b="0" i="1">
                <a:solidFill>
                  <a:srgbClr val="5A7A8C"/>
                </a:solidFill>
                <a:latin typeface="Georgia"/>
              </a:rPr>
              <a:t>At the gym you are a body.</a:t>
            </a:r>
          </a:p>
        </p:txBody>
      </p:sp>
      <p:sp>
        <p:nvSpPr>
          <p:cNvPr id="6" name="TextBox 5"/>
          <p:cNvSpPr txBox="1"/>
          <p:nvPr/>
        </p:nvSpPr>
        <p:spPr>
          <a:xfrm>
            <a:off x="1097280" y="2880360"/>
            <a:ext cx="10058400" cy="502920"/>
          </a:xfrm>
          <a:prstGeom prst="rect">
            <a:avLst/>
          </a:prstGeom>
          <a:noFill/>
        </p:spPr>
        <p:txBody>
          <a:bodyPr wrap="square" lIns="0" rIns="0" tIns="0" bIns="0" anchor="t">
            <a:spAutoFit/>
          </a:bodyPr>
          <a:lstStyle/>
          <a:p>
            <a:pPr algn="l">
              <a:lnSpc>
                <a:spcPct val="120000"/>
              </a:lnSpc>
            </a:pPr>
            <a:r>
              <a:rPr sz="2200" b="0" i="1">
                <a:solidFill>
                  <a:srgbClr val="5A7A8C"/>
                </a:solidFill>
                <a:latin typeface="Georgia"/>
              </a:rPr>
              <a:t>At your desk you are an attention span.</a:t>
            </a:r>
          </a:p>
        </p:txBody>
      </p:sp>
      <p:sp>
        <p:nvSpPr>
          <p:cNvPr id="7" name="TextBox 6"/>
          <p:cNvSpPr txBox="1"/>
          <p:nvPr/>
        </p:nvSpPr>
        <p:spPr>
          <a:xfrm>
            <a:off x="1097280" y="3429000"/>
            <a:ext cx="10058400" cy="502920"/>
          </a:xfrm>
          <a:prstGeom prst="rect">
            <a:avLst/>
          </a:prstGeom>
          <a:noFill/>
        </p:spPr>
        <p:txBody>
          <a:bodyPr wrap="square" lIns="0" rIns="0" tIns="0" bIns="0" anchor="t">
            <a:spAutoFit/>
          </a:bodyPr>
          <a:lstStyle/>
          <a:p>
            <a:pPr algn="l">
              <a:lnSpc>
                <a:spcPct val="120000"/>
              </a:lnSpc>
            </a:pPr>
            <a:r>
              <a:rPr sz="2200" b="0" i="1">
                <a:solidFill>
                  <a:srgbClr val="5A7A8C"/>
                </a:solidFill>
                <a:latin typeface="Georgia"/>
              </a:rPr>
              <a:t>With your parents you are a phone call.</a:t>
            </a:r>
          </a:p>
        </p:txBody>
      </p:sp>
      <p:sp>
        <p:nvSpPr>
          <p:cNvPr id="8" name="TextBox 7"/>
          <p:cNvSpPr txBox="1"/>
          <p:nvPr/>
        </p:nvSpPr>
        <p:spPr>
          <a:xfrm>
            <a:off x="1097280" y="3977640"/>
            <a:ext cx="10058400" cy="502920"/>
          </a:xfrm>
          <a:prstGeom prst="rect">
            <a:avLst/>
          </a:prstGeom>
          <a:noFill/>
        </p:spPr>
        <p:txBody>
          <a:bodyPr wrap="square" lIns="0" rIns="0" tIns="0" bIns="0" anchor="t">
            <a:spAutoFit/>
          </a:bodyPr>
          <a:lstStyle/>
          <a:p>
            <a:pPr algn="l">
              <a:lnSpc>
                <a:spcPct val="120000"/>
              </a:lnSpc>
            </a:pPr>
            <a:r>
              <a:rPr sz="2200" b="0" i="1">
                <a:solidFill>
                  <a:srgbClr val="5A7A8C"/>
                </a:solidFill>
                <a:latin typeface="Georgia"/>
              </a:rPr>
              <a:t>After midnight you are a worry.</a:t>
            </a:r>
          </a:p>
        </p:txBody>
      </p:sp>
      <p:sp>
        <p:nvSpPr>
          <p:cNvPr id="9" name="TextBox 8"/>
          <p:cNvSpPr txBox="1"/>
          <p:nvPr/>
        </p:nvSpPr>
        <p:spPr>
          <a:xfrm>
            <a:off x="1097280" y="4526280"/>
            <a:ext cx="10058400" cy="502920"/>
          </a:xfrm>
          <a:prstGeom prst="rect">
            <a:avLst/>
          </a:prstGeom>
          <a:noFill/>
        </p:spPr>
        <p:txBody>
          <a:bodyPr wrap="square" lIns="0" rIns="0" tIns="0" bIns="0" anchor="t">
            <a:spAutoFit/>
          </a:bodyPr>
          <a:lstStyle/>
          <a:p>
            <a:pPr algn="l">
              <a:lnSpc>
                <a:spcPct val="120000"/>
              </a:lnSpc>
            </a:pPr>
            <a:r>
              <a:rPr sz="2200" b="0" i="1">
                <a:solidFill>
                  <a:srgbClr val="5A7A8C"/>
                </a:solidFill>
                <a:latin typeface="Georgia"/>
              </a:rPr>
              <a:t>On Sunday morning you are a question that doesn't have a name.</a:t>
            </a:r>
          </a:p>
        </p:txBody>
      </p:sp>
      <p:sp>
        <p:nvSpPr>
          <p:cNvPr id="10" name="TextBox 9"/>
          <p:cNvSpPr txBox="1"/>
          <p:nvPr/>
        </p:nvSpPr>
        <p:spPr>
          <a:xfrm>
            <a:off x="640080" y="5577840"/>
            <a:ext cx="10972800" cy="777240"/>
          </a:xfrm>
          <a:prstGeom prst="rect">
            <a:avLst/>
          </a:prstGeom>
          <a:noFill/>
        </p:spPr>
        <p:txBody>
          <a:bodyPr wrap="square" lIns="0" rIns="0" tIns="0" bIns="0" anchor="t">
            <a:spAutoFit/>
          </a:bodyPr>
          <a:lstStyle/>
          <a:p>
            <a:pPr algn="ctr">
              <a:lnSpc>
                <a:spcPct val="135000"/>
              </a:lnSpc>
            </a:pPr>
            <a:r>
              <a:rPr sz="1800" b="0" i="0">
                <a:solidFill>
                  <a:srgbClr val="0F1B36"/>
                </a:solidFill>
                <a:latin typeface="Georgia"/>
              </a:rPr>
              <a:t>Each of these is real.  None of them, alone, is you.</a:t>
            </a:r>
          </a:p>
          <a:p>
            <a:pPr algn="ctr">
              <a:lnSpc>
                <a:spcPct val="135000"/>
              </a:lnSpc>
            </a:pPr>
            <a:r>
              <a:rPr sz="1800" b="0" i="0">
                <a:solidFill>
                  <a:srgbClr val="0F1B36"/>
                </a:solidFill>
                <a:latin typeface="Georgia"/>
              </a:rPr>
              <a:t>Call the integrated version Bob.</a:t>
            </a:r>
          </a:p>
        </p:txBody>
      </p:sp>
      <p:sp>
        <p:nvSpPr>
          <p:cNvPr id="11" name="TextBox 10"/>
          <p:cNvSpPr txBox="1"/>
          <p:nvPr/>
        </p:nvSpPr>
        <p:spPr>
          <a:xfrm>
            <a:off x="457200" y="6446520"/>
            <a:ext cx="1828800" cy="274320"/>
          </a:xfrm>
          <a:prstGeom prst="rect">
            <a:avLst/>
          </a:prstGeom>
          <a:noFill/>
        </p:spPr>
        <p:txBody>
          <a:bodyPr wrap="square" lIns="0" rIns="0" tIns="0" bIns="0" anchor="t">
            <a:spAutoFit/>
          </a:bodyPr>
          <a:lstStyle/>
          <a:p>
            <a:pPr algn="l"/>
            <a:r>
              <a:rPr sz="900" b="0" i="1">
                <a:solidFill>
                  <a:srgbClr val="6B778B"/>
                </a:solidFill>
                <a:latin typeface="Calibri"/>
              </a:rPr>
              <a:t>02 · 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40080" y="502920"/>
            <a:ext cx="10972800" cy="365760"/>
          </a:xfrm>
          <a:prstGeom prst="rect">
            <a:avLst/>
          </a:prstGeom>
          <a:noFill/>
        </p:spPr>
        <p:txBody>
          <a:bodyPr wrap="square" lIns="0" rIns="0" tIns="0" bIns="0" anchor="t">
            <a:spAutoFit/>
          </a:bodyPr>
          <a:lstStyle/>
          <a:p>
            <a:pPr algn="l"/>
            <a:r>
              <a:rPr sz="1100" b="1" i="0" spc="250">
                <a:solidFill>
                  <a:srgbClr val="D4A24C"/>
                </a:solidFill>
                <a:latin typeface="Calibri"/>
              </a:rPr>
              <a:t>A SHORT HISTORY OF THE IDEA</a:t>
            </a:r>
          </a:p>
        </p:txBody>
      </p:sp>
      <p:sp>
        <p:nvSpPr>
          <p:cNvPr id="3" name="TextBox 2"/>
          <p:cNvSpPr txBox="1"/>
          <p:nvPr/>
        </p:nvSpPr>
        <p:spPr>
          <a:xfrm>
            <a:off x="640080" y="868680"/>
            <a:ext cx="10972800" cy="914400"/>
          </a:xfrm>
          <a:prstGeom prst="rect">
            <a:avLst/>
          </a:prstGeom>
          <a:noFill/>
        </p:spPr>
        <p:txBody>
          <a:bodyPr wrap="square" lIns="0" rIns="0" tIns="0" bIns="0" anchor="t">
            <a:spAutoFit/>
          </a:bodyPr>
          <a:lstStyle/>
          <a:p>
            <a:pPr algn="l"/>
            <a:r>
              <a:rPr sz="3000" b="1" i="0">
                <a:solidFill>
                  <a:srgbClr val="0F1B36"/>
                </a:solidFill>
                <a:latin typeface="Georgia"/>
              </a:rPr>
              <a:t>The framework is older than it gets credit for.</a:t>
            </a:r>
          </a:p>
        </p:txBody>
      </p:sp>
      <p:sp>
        <p:nvSpPr>
          <p:cNvPr id="4" name="Rectangle 3"/>
          <p:cNvSpPr/>
          <p:nvPr/>
        </p:nvSpPr>
        <p:spPr>
          <a:xfrm>
            <a:off x="640080" y="1783080"/>
            <a:ext cx="640080" cy="457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2286000"/>
            <a:ext cx="2697480" cy="347472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286000"/>
            <a:ext cx="2697480" cy="5029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331720"/>
            <a:ext cx="2697480" cy="411480"/>
          </a:xfrm>
          <a:prstGeom prst="rect">
            <a:avLst/>
          </a:prstGeom>
          <a:noFill/>
        </p:spPr>
        <p:txBody>
          <a:bodyPr wrap="square" lIns="0" rIns="0" tIns="0" bIns="0" anchor="ctr">
            <a:spAutoFit/>
          </a:bodyPr>
          <a:lstStyle/>
          <a:p>
            <a:pPr algn="ctr"/>
            <a:r>
              <a:rPr sz="1400" b="1" i="0" spc="250">
                <a:solidFill>
                  <a:srgbClr val="FBF8F1"/>
                </a:solidFill>
                <a:latin typeface="Calibri"/>
              </a:rPr>
              <a:t>1948</a:t>
            </a:r>
          </a:p>
        </p:txBody>
      </p:sp>
      <p:sp>
        <p:nvSpPr>
          <p:cNvPr id="8" name="TextBox 7"/>
          <p:cNvSpPr txBox="1"/>
          <p:nvPr/>
        </p:nvSpPr>
        <p:spPr>
          <a:xfrm>
            <a:off x="640080" y="2971800"/>
            <a:ext cx="2331720" cy="548640"/>
          </a:xfrm>
          <a:prstGeom prst="rect">
            <a:avLst/>
          </a:prstGeom>
          <a:noFill/>
        </p:spPr>
        <p:txBody>
          <a:bodyPr wrap="square" lIns="0" rIns="0" tIns="0" bIns="0" anchor="t">
            <a:spAutoFit/>
          </a:bodyPr>
          <a:lstStyle/>
          <a:p>
            <a:pPr algn="ctr"/>
            <a:r>
              <a:rPr sz="1800" b="1" i="0">
                <a:solidFill>
                  <a:srgbClr val="0F1B36"/>
                </a:solidFill>
                <a:latin typeface="Georgia"/>
              </a:rPr>
              <a:t>WHO</a:t>
            </a:r>
          </a:p>
        </p:txBody>
      </p:sp>
      <p:sp>
        <p:nvSpPr>
          <p:cNvPr id="9" name="TextBox 8"/>
          <p:cNvSpPr txBox="1"/>
          <p:nvPr/>
        </p:nvSpPr>
        <p:spPr>
          <a:xfrm>
            <a:off x="640080" y="3611880"/>
            <a:ext cx="2331720" cy="2011680"/>
          </a:xfrm>
          <a:prstGeom prst="rect">
            <a:avLst/>
          </a:prstGeom>
          <a:noFill/>
        </p:spPr>
        <p:txBody>
          <a:bodyPr wrap="square" lIns="0" rIns="0" tIns="0" bIns="0" anchor="t">
            <a:spAutoFit/>
          </a:bodyPr>
          <a:lstStyle/>
          <a:p>
            <a:pPr algn="ctr">
              <a:lnSpc>
                <a:spcPct val="140000"/>
              </a:lnSpc>
            </a:pPr>
            <a:r>
              <a:rPr sz="1250" b="0" i="0">
                <a:solidFill>
                  <a:srgbClr val="1B2436"/>
                </a:solidFill>
                <a:latin typeface="Calibri"/>
              </a:rPr>
              <a:t>Health is "a state of complete physical, mental and social well-being, not merely the absence of disease."</a:t>
            </a:r>
          </a:p>
        </p:txBody>
      </p:sp>
      <p:sp>
        <p:nvSpPr>
          <p:cNvPr id="10" name="Rectangle 9"/>
          <p:cNvSpPr/>
          <p:nvPr/>
        </p:nvSpPr>
        <p:spPr>
          <a:xfrm>
            <a:off x="3337560" y="2286000"/>
            <a:ext cx="2697480" cy="347472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37560" y="2286000"/>
            <a:ext cx="2697480" cy="502920"/>
          </a:xfrm>
          <a:prstGeom prst="rect">
            <a:avLst/>
          </a:prstGeom>
          <a:solidFill>
            <a:srgbClr val="5A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37560" y="2331720"/>
            <a:ext cx="2697480" cy="411480"/>
          </a:xfrm>
          <a:prstGeom prst="rect">
            <a:avLst/>
          </a:prstGeom>
          <a:noFill/>
        </p:spPr>
        <p:txBody>
          <a:bodyPr wrap="square" lIns="0" rIns="0" tIns="0" bIns="0" anchor="ctr">
            <a:spAutoFit/>
          </a:bodyPr>
          <a:lstStyle/>
          <a:p>
            <a:pPr algn="ctr"/>
            <a:r>
              <a:rPr sz="1400" b="1" i="0" spc="250">
                <a:solidFill>
                  <a:srgbClr val="FBF8F1"/>
                </a:solidFill>
                <a:latin typeface="Calibri"/>
              </a:rPr>
              <a:t>1976</a:t>
            </a:r>
          </a:p>
        </p:txBody>
      </p:sp>
      <p:sp>
        <p:nvSpPr>
          <p:cNvPr id="13" name="TextBox 12"/>
          <p:cNvSpPr txBox="1"/>
          <p:nvPr/>
        </p:nvSpPr>
        <p:spPr>
          <a:xfrm>
            <a:off x="3520440" y="2971800"/>
            <a:ext cx="2331720" cy="548640"/>
          </a:xfrm>
          <a:prstGeom prst="rect">
            <a:avLst/>
          </a:prstGeom>
          <a:noFill/>
        </p:spPr>
        <p:txBody>
          <a:bodyPr wrap="square" lIns="0" rIns="0" tIns="0" bIns="0" anchor="t">
            <a:spAutoFit/>
          </a:bodyPr>
          <a:lstStyle/>
          <a:p>
            <a:pPr algn="ctr"/>
            <a:r>
              <a:rPr sz="1800" b="1" i="0">
                <a:solidFill>
                  <a:srgbClr val="0F1B36"/>
                </a:solidFill>
                <a:latin typeface="Georgia"/>
              </a:rPr>
              <a:t>Bill Hettler</a:t>
            </a:r>
          </a:p>
        </p:txBody>
      </p:sp>
      <p:sp>
        <p:nvSpPr>
          <p:cNvPr id="14" name="TextBox 13"/>
          <p:cNvSpPr txBox="1"/>
          <p:nvPr/>
        </p:nvSpPr>
        <p:spPr>
          <a:xfrm>
            <a:off x="3520440" y="3611880"/>
            <a:ext cx="2331720" cy="2011680"/>
          </a:xfrm>
          <a:prstGeom prst="rect">
            <a:avLst/>
          </a:prstGeom>
          <a:noFill/>
        </p:spPr>
        <p:txBody>
          <a:bodyPr wrap="square" lIns="0" rIns="0" tIns="0" bIns="0" anchor="t">
            <a:spAutoFit/>
          </a:bodyPr>
          <a:lstStyle/>
          <a:p>
            <a:pPr algn="ctr">
              <a:lnSpc>
                <a:spcPct val="140000"/>
              </a:lnSpc>
            </a:pPr>
            <a:r>
              <a:rPr sz="1250" b="0" i="0">
                <a:solidFill>
                  <a:srgbClr val="1B2436"/>
                </a:solidFill>
                <a:latin typeface="Calibri"/>
              </a:rPr>
              <a:t>Co-founds the National Wellness Institute; proposes six dimensions of wellness.</a:t>
            </a:r>
          </a:p>
        </p:txBody>
      </p:sp>
      <p:sp>
        <p:nvSpPr>
          <p:cNvPr id="15" name="Rectangle 14"/>
          <p:cNvSpPr/>
          <p:nvPr/>
        </p:nvSpPr>
        <p:spPr>
          <a:xfrm>
            <a:off x="6217920" y="2286000"/>
            <a:ext cx="2697480" cy="347472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2286000"/>
            <a:ext cx="2697480" cy="502920"/>
          </a:xfrm>
          <a:prstGeom prst="rect">
            <a:avLst/>
          </a:prstGeom>
          <a:solidFill>
            <a:srgbClr val="C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0" y="2331720"/>
            <a:ext cx="2697480" cy="411480"/>
          </a:xfrm>
          <a:prstGeom prst="rect">
            <a:avLst/>
          </a:prstGeom>
          <a:noFill/>
        </p:spPr>
        <p:txBody>
          <a:bodyPr wrap="square" lIns="0" rIns="0" tIns="0" bIns="0" anchor="ctr">
            <a:spAutoFit/>
          </a:bodyPr>
          <a:lstStyle/>
          <a:p>
            <a:pPr algn="ctr"/>
            <a:r>
              <a:rPr sz="1400" b="1" i="0" spc="250">
                <a:solidFill>
                  <a:srgbClr val="FBF8F1"/>
                </a:solidFill>
                <a:latin typeface="Calibri"/>
              </a:rPr>
              <a:t>1977</a:t>
            </a:r>
          </a:p>
        </p:txBody>
      </p:sp>
      <p:sp>
        <p:nvSpPr>
          <p:cNvPr id="18" name="TextBox 17"/>
          <p:cNvSpPr txBox="1"/>
          <p:nvPr/>
        </p:nvSpPr>
        <p:spPr>
          <a:xfrm>
            <a:off x="6400800" y="2971800"/>
            <a:ext cx="2331720" cy="548640"/>
          </a:xfrm>
          <a:prstGeom prst="rect">
            <a:avLst/>
          </a:prstGeom>
          <a:noFill/>
        </p:spPr>
        <p:txBody>
          <a:bodyPr wrap="square" lIns="0" rIns="0" tIns="0" bIns="0" anchor="t">
            <a:spAutoFit/>
          </a:bodyPr>
          <a:lstStyle/>
          <a:p>
            <a:pPr algn="ctr"/>
            <a:r>
              <a:rPr sz="1800" b="1" i="0">
                <a:solidFill>
                  <a:srgbClr val="0F1B36"/>
                </a:solidFill>
                <a:latin typeface="Georgia"/>
              </a:rPr>
              <a:t>George Engel</a:t>
            </a:r>
          </a:p>
        </p:txBody>
      </p:sp>
      <p:sp>
        <p:nvSpPr>
          <p:cNvPr id="19" name="TextBox 18"/>
          <p:cNvSpPr txBox="1"/>
          <p:nvPr/>
        </p:nvSpPr>
        <p:spPr>
          <a:xfrm>
            <a:off x="6400800" y="3611880"/>
            <a:ext cx="2331720" cy="2011680"/>
          </a:xfrm>
          <a:prstGeom prst="rect">
            <a:avLst/>
          </a:prstGeom>
          <a:noFill/>
        </p:spPr>
        <p:txBody>
          <a:bodyPr wrap="square" lIns="0" rIns="0" tIns="0" bIns="0" anchor="t">
            <a:spAutoFit/>
          </a:bodyPr>
          <a:lstStyle/>
          <a:p>
            <a:pPr algn="ctr">
              <a:lnSpc>
                <a:spcPct val="140000"/>
              </a:lnSpc>
            </a:pPr>
            <a:r>
              <a:rPr sz="1250" b="0" i="0">
                <a:solidFill>
                  <a:srgbClr val="1B2436"/>
                </a:solidFill>
                <a:latin typeface="Calibri"/>
              </a:rPr>
              <a:t>Publishes the biopsychosocial model in Science; challenges biomedicine to treat the whole person.</a:t>
            </a:r>
          </a:p>
        </p:txBody>
      </p:sp>
      <p:sp>
        <p:nvSpPr>
          <p:cNvPr id="20" name="Rectangle 19"/>
          <p:cNvSpPr/>
          <p:nvPr/>
        </p:nvSpPr>
        <p:spPr>
          <a:xfrm>
            <a:off x="9098280" y="2286000"/>
            <a:ext cx="2697480" cy="347472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98280" y="2286000"/>
            <a:ext cx="2697480" cy="502920"/>
          </a:xfrm>
          <a:prstGeom prst="rect">
            <a:avLst/>
          </a:prstGeom>
          <a:solidFill>
            <a:srgbClr val="5C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98280" y="2331720"/>
            <a:ext cx="2697480" cy="411480"/>
          </a:xfrm>
          <a:prstGeom prst="rect">
            <a:avLst/>
          </a:prstGeom>
          <a:noFill/>
        </p:spPr>
        <p:txBody>
          <a:bodyPr wrap="square" lIns="0" rIns="0" tIns="0" bIns="0" anchor="ctr">
            <a:spAutoFit/>
          </a:bodyPr>
          <a:lstStyle/>
          <a:p>
            <a:pPr algn="ctr"/>
            <a:r>
              <a:rPr sz="1400" b="1" i="0" spc="250">
                <a:solidFill>
                  <a:srgbClr val="FBF8F1"/>
                </a:solidFill>
                <a:latin typeface="Calibri"/>
              </a:rPr>
              <a:t>TODAY</a:t>
            </a:r>
          </a:p>
        </p:txBody>
      </p:sp>
      <p:sp>
        <p:nvSpPr>
          <p:cNvPr id="23" name="TextBox 22"/>
          <p:cNvSpPr txBox="1"/>
          <p:nvPr/>
        </p:nvSpPr>
        <p:spPr>
          <a:xfrm>
            <a:off x="9281160" y="2971800"/>
            <a:ext cx="2331720" cy="548640"/>
          </a:xfrm>
          <a:prstGeom prst="rect">
            <a:avLst/>
          </a:prstGeom>
          <a:noFill/>
        </p:spPr>
        <p:txBody>
          <a:bodyPr wrap="square" lIns="0" rIns="0" tIns="0" bIns="0" anchor="t">
            <a:spAutoFit/>
          </a:bodyPr>
          <a:lstStyle/>
          <a:p>
            <a:pPr algn="ctr"/>
            <a:r>
              <a:rPr sz="1800" b="1" i="0">
                <a:solidFill>
                  <a:srgbClr val="0F1B36"/>
                </a:solidFill>
                <a:latin typeface="Georgia"/>
              </a:rPr>
              <a:t>SAMHSA</a:t>
            </a:r>
          </a:p>
        </p:txBody>
      </p:sp>
      <p:sp>
        <p:nvSpPr>
          <p:cNvPr id="24" name="TextBox 23"/>
          <p:cNvSpPr txBox="1"/>
          <p:nvPr/>
        </p:nvSpPr>
        <p:spPr>
          <a:xfrm>
            <a:off x="9281160" y="3611880"/>
            <a:ext cx="2331720" cy="2011680"/>
          </a:xfrm>
          <a:prstGeom prst="rect">
            <a:avLst/>
          </a:prstGeom>
          <a:noFill/>
        </p:spPr>
        <p:txBody>
          <a:bodyPr wrap="square" lIns="0" rIns="0" tIns="0" bIns="0" anchor="t">
            <a:spAutoFit/>
          </a:bodyPr>
          <a:lstStyle/>
          <a:p>
            <a:pPr algn="ctr">
              <a:lnSpc>
                <a:spcPct val="140000"/>
              </a:lnSpc>
            </a:pPr>
            <a:r>
              <a:rPr sz="1250" b="0" i="0">
                <a:solidFill>
                  <a:srgbClr val="1B2436"/>
                </a:solidFill>
                <a:latin typeface="Calibri"/>
              </a:rPr>
              <a:t>Federal mental-health agency teaches an eight-dimension wellness model in clinical use.</a:t>
            </a:r>
          </a:p>
        </p:txBody>
      </p:sp>
      <p:sp>
        <p:nvSpPr>
          <p:cNvPr id="25" name="TextBox 24"/>
          <p:cNvSpPr txBox="1"/>
          <p:nvPr/>
        </p:nvSpPr>
        <p:spPr>
          <a:xfrm>
            <a:off x="640080" y="5989320"/>
            <a:ext cx="10972800" cy="365760"/>
          </a:xfrm>
          <a:prstGeom prst="rect">
            <a:avLst/>
          </a:prstGeom>
          <a:noFill/>
        </p:spPr>
        <p:txBody>
          <a:bodyPr wrap="square" lIns="0" rIns="0" tIns="0" bIns="0" anchor="t">
            <a:spAutoFit/>
          </a:bodyPr>
          <a:lstStyle/>
          <a:p>
            <a:pPr algn="ctr"/>
            <a:r>
              <a:rPr sz="1450" b="0" i="1">
                <a:solidFill>
                  <a:srgbClr val="5A7A8C"/>
                </a:solidFill>
                <a:latin typeface="Georgia"/>
              </a:rPr>
              <a:t>Different lists. Same idea. Here we'll use five.</a:t>
            </a:r>
          </a:p>
        </p:txBody>
      </p:sp>
      <p:sp>
        <p:nvSpPr>
          <p:cNvPr id="26" name="TextBox 25"/>
          <p:cNvSpPr txBox="1"/>
          <p:nvPr/>
        </p:nvSpPr>
        <p:spPr>
          <a:xfrm>
            <a:off x="457200" y="6446520"/>
            <a:ext cx="1828800" cy="274320"/>
          </a:xfrm>
          <a:prstGeom prst="rect">
            <a:avLst/>
          </a:prstGeom>
          <a:noFill/>
        </p:spPr>
        <p:txBody>
          <a:bodyPr wrap="square" lIns="0" rIns="0" tIns="0" bIns="0" anchor="t">
            <a:spAutoFit/>
          </a:bodyPr>
          <a:lstStyle/>
          <a:p>
            <a:pPr algn="l"/>
            <a:r>
              <a:rPr sz="900" b="0" i="1">
                <a:solidFill>
                  <a:srgbClr val="6B778B"/>
                </a:solidFill>
                <a:latin typeface="Calibri"/>
              </a:rPr>
              <a:t>03 ·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40080" y="502920"/>
            <a:ext cx="10972800" cy="365760"/>
          </a:xfrm>
          <a:prstGeom prst="rect">
            <a:avLst/>
          </a:prstGeom>
          <a:noFill/>
        </p:spPr>
        <p:txBody>
          <a:bodyPr wrap="square" lIns="0" rIns="0" tIns="0" bIns="0" anchor="t">
            <a:spAutoFit/>
          </a:bodyPr>
          <a:lstStyle/>
          <a:p>
            <a:pPr algn="l"/>
            <a:r>
              <a:rPr sz="1100" b="1" i="0" spc="250">
                <a:solidFill>
                  <a:srgbClr val="D4A24C"/>
                </a:solidFill>
                <a:latin typeface="Calibri"/>
              </a:rPr>
              <a:t>THE FIVE DIMENSIONS</a:t>
            </a:r>
          </a:p>
        </p:txBody>
      </p:sp>
      <p:sp>
        <p:nvSpPr>
          <p:cNvPr id="3" name="TextBox 2"/>
          <p:cNvSpPr txBox="1"/>
          <p:nvPr/>
        </p:nvSpPr>
        <p:spPr>
          <a:xfrm>
            <a:off x="640080" y="868680"/>
            <a:ext cx="10972800" cy="914400"/>
          </a:xfrm>
          <a:prstGeom prst="rect">
            <a:avLst/>
          </a:prstGeom>
          <a:noFill/>
        </p:spPr>
        <p:txBody>
          <a:bodyPr wrap="square" lIns="0" rIns="0" tIns="0" bIns="0" anchor="t">
            <a:spAutoFit/>
          </a:bodyPr>
          <a:lstStyle/>
          <a:p>
            <a:pPr algn="l"/>
            <a:r>
              <a:rPr sz="3000" b="1" i="0">
                <a:solidFill>
                  <a:srgbClr val="0F1B36"/>
                </a:solidFill>
                <a:latin typeface="Georgia"/>
              </a:rPr>
              <a:t>Physical · Mental · Emotional · Social · Spiritual</a:t>
            </a:r>
          </a:p>
        </p:txBody>
      </p:sp>
      <p:sp>
        <p:nvSpPr>
          <p:cNvPr id="4" name="Rectangle 3"/>
          <p:cNvSpPr/>
          <p:nvPr/>
        </p:nvSpPr>
        <p:spPr>
          <a:xfrm>
            <a:off x="640080" y="1783080"/>
            <a:ext cx="640080" cy="457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194560"/>
            <a:ext cx="2212848" cy="3520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2194560"/>
            <a:ext cx="2212848" cy="9144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468880"/>
            <a:ext cx="2212848" cy="594360"/>
          </a:xfrm>
          <a:prstGeom prst="rect">
            <a:avLst/>
          </a:prstGeom>
          <a:noFill/>
        </p:spPr>
        <p:txBody>
          <a:bodyPr wrap="square" lIns="0" rIns="0" tIns="0" bIns="0" anchor="t">
            <a:spAutoFit/>
          </a:bodyPr>
          <a:lstStyle/>
          <a:p>
            <a:pPr algn="ctr"/>
            <a:r>
              <a:rPr sz="3400" b="0" i="0">
                <a:solidFill>
                  <a:srgbClr val="D4A24C"/>
                </a:solidFill>
                <a:latin typeface="Georgia"/>
              </a:rPr>
              <a:t>♥</a:t>
            </a:r>
          </a:p>
        </p:txBody>
      </p:sp>
      <p:sp>
        <p:nvSpPr>
          <p:cNvPr id="8" name="TextBox 7"/>
          <p:cNvSpPr txBox="1"/>
          <p:nvPr/>
        </p:nvSpPr>
        <p:spPr>
          <a:xfrm>
            <a:off x="502920" y="3108960"/>
            <a:ext cx="2212848" cy="320040"/>
          </a:xfrm>
          <a:prstGeom prst="rect">
            <a:avLst/>
          </a:prstGeom>
          <a:noFill/>
        </p:spPr>
        <p:txBody>
          <a:bodyPr wrap="square" lIns="0" rIns="0" tIns="0" bIns="0" anchor="t">
            <a:spAutoFit/>
          </a:bodyPr>
          <a:lstStyle/>
          <a:p>
            <a:pPr algn="ctr"/>
            <a:r>
              <a:rPr sz="1200" b="1" i="0" spc="250">
                <a:solidFill>
                  <a:srgbClr val="0F1B36"/>
                </a:solidFill>
                <a:latin typeface="Calibri"/>
              </a:rPr>
              <a:t>PHYSICAL</a:t>
            </a:r>
          </a:p>
        </p:txBody>
      </p:sp>
      <p:sp>
        <p:nvSpPr>
          <p:cNvPr id="9" name="TextBox 8"/>
          <p:cNvSpPr txBox="1"/>
          <p:nvPr/>
        </p:nvSpPr>
        <p:spPr>
          <a:xfrm>
            <a:off x="667512" y="3520440"/>
            <a:ext cx="1883664" cy="2103120"/>
          </a:xfrm>
          <a:prstGeom prst="rect">
            <a:avLst/>
          </a:prstGeom>
          <a:noFill/>
        </p:spPr>
        <p:txBody>
          <a:bodyPr wrap="square" lIns="0" rIns="0" tIns="0" bIns="0" anchor="t">
            <a:spAutoFit/>
          </a:bodyPr>
          <a:lstStyle/>
          <a:p>
            <a:pPr algn="ctr">
              <a:lnSpc>
                <a:spcPct val="135000"/>
              </a:lnSpc>
            </a:pPr>
            <a:r>
              <a:rPr sz="1300" b="0" i="1">
                <a:solidFill>
                  <a:srgbClr val="1B2436"/>
                </a:solidFill>
                <a:latin typeface="Georgia"/>
              </a:rPr>
              <a:t>Your body's basic operating capacity. Sleep, movement, nutrition, energy at noon.</a:t>
            </a:r>
          </a:p>
        </p:txBody>
      </p:sp>
      <p:sp>
        <p:nvSpPr>
          <p:cNvPr id="10" name="Rectangle 9"/>
          <p:cNvSpPr/>
          <p:nvPr/>
        </p:nvSpPr>
        <p:spPr>
          <a:xfrm>
            <a:off x="2807208" y="2194560"/>
            <a:ext cx="2212848" cy="3520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07208" y="2194560"/>
            <a:ext cx="2212848" cy="91440"/>
          </a:xfrm>
          <a:prstGeom prst="rect">
            <a:avLst/>
          </a:prstGeom>
          <a:solidFill>
            <a:srgbClr val="5A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07208" y="2468880"/>
            <a:ext cx="2212848" cy="594360"/>
          </a:xfrm>
          <a:prstGeom prst="rect">
            <a:avLst/>
          </a:prstGeom>
          <a:noFill/>
        </p:spPr>
        <p:txBody>
          <a:bodyPr wrap="square" lIns="0" rIns="0" tIns="0" bIns="0" anchor="t">
            <a:spAutoFit/>
          </a:bodyPr>
          <a:lstStyle/>
          <a:p>
            <a:pPr algn="ctr"/>
            <a:r>
              <a:rPr sz="3400" b="0" i="0">
                <a:solidFill>
                  <a:srgbClr val="5A7A8C"/>
                </a:solidFill>
                <a:latin typeface="Georgia"/>
              </a:rPr>
              <a:t>◐</a:t>
            </a:r>
          </a:p>
        </p:txBody>
      </p:sp>
      <p:sp>
        <p:nvSpPr>
          <p:cNvPr id="13" name="TextBox 12"/>
          <p:cNvSpPr txBox="1"/>
          <p:nvPr/>
        </p:nvSpPr>
        <p:spPr>
          <a:xfrm>
            <a:off x="2807208" y="3108960"/>
            <a:ext cx="2212848" cy="320040"/>
          </a:xfrm>
          <a:prstGeom prst="rect">
            <a:avLst/>
          </a:prstGeom>
          <a:noFill/>
        </p:spPr>
        <p:txBody>
          <a:bodyPr wrap="square" lIns="0" rIns="0" tIns="0" bIns="0" anchor="t">
            <a:spAutoFit/>
          </a:bodyPr>
          <a:lstStyle/>
          <a:p>
            <a:pPr algn="ctr"/>
            <a:r>
              <a:rPr sz="1200" b="1" i="0" spc="250">
                <a:solidFill>
                  <a:srgbClr val="0F1B36"/>
                </a:solidFill>
                <a:latin typeface="Calibri"/>
              </a:rPr>
              <a:t>MENTAL</a:t>
            </a:r>
          </a:p>
        </p:txBody>
      </p:sp>
      <p:sp>
        <p:nvSpPr>
          <p:cNvPr id="14" name="TextBox 13"/>
          <p:cNvSpPr txBox="1"/>
          <p:nvPr/>
        </p:nvSpPr>
        <p:spPr>
          <a:xfrm>
            <a:off x="2971800" y="3520440"/>
            <a:ext cx="1883664" cy="2103120"/>
          </a:xfrm>
          <a:prstGeom prst="rect">
            <a:avLst/>
          </a:prstGeom>
          <a:noFill/>
        </p:spPr>
        <p:txBody>
          <a:bodyPr wrap="square" lIns="0" rIns="0" tIns="0" bIns="0" anchor="t">
            <a:spAutoFit/>
          </a:bodyPr>
          <a:lstStyle/>
          <a:p>
            <a:pPr algn="ctr">
              <a:lnSpc>
                <a:spcPct val="135000"/>
              </a:lnSpc>
            </a:pPr>
            <a:r>
              <a:rPr sz="1300" b="0" i="1">
                <a:solidFill>
                  <a:srgbClr val="1B2436"/>
                </a:solidFill>
                <a:latin typeface="Georgia"/>
              </a:rPr>
              <a:t>Cognitive function. Focus, learning, problem-solving, working memory.</a:t>
            </a:r>
          </a:p>
        </p:txBody>
      </p:sp>
      <p:sp>
        <p:nvSpPr>
          <p:cNvPr id="15" name="Rectangle 14"/>
          <p:cNvSpPr/>
          <p:nvPr/>
        </p:nvSpPr>
        <p:spPr>
          <a:xfrm>
            <a:off x="5111496" y="2194560"/>
            <a:ext cx="2212848" cy="3520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11496" y="2194560"/>
            <a:ext cx="2212848" cy="91440"/>
          </a:xfrm>
          <a:prstGeom prst="rect">
            <a:avLst/>
          </a:prstGeom>
          <a:solidFill>
            <a:srgbClr val="C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11496" y="2468880"/>
            <a:ext cx="2212848" cy="594360"/>
          </a:xfrm>
          <a:prstGeom prst="rect">
            <a:avLst/>
          </a:prstGeom>
          <a:noFill/>
        </p:spPr>
        <p:txBody>
          <a:bodyPr wrap="square" lIns="0" rIns="0" tIns="0" bIns="0" anchor="t">
            <a:spAutoFit/>
          </a:bodyPr>
          <a:lstStyle/>
          <a:p>
            <a:pPr algn="ctr"/>
            <a:r>
              <a:rPr sz="3400" b="0" i="0">
                <a:solidFill>
                  <a:srgbClr val="C97757"/>
                </a:solidFill>
                <a:latin typeface="Georgia"/>
              </a:rPr>
              <a:t>◈</a:t>
            </a:r>
          </a:p>
        </p:txBody>
      </p:sp>
      <p:sp>
        <p:nvSpPr>
          <p:cNvPr id="18" name="TextBox 17"/>
          <p:cNvSpPr txBox="1"/>
          <p:nvPr/>
        </p:nvSpPr>
        <p:spPr>
          <a:xfrm>
            <a:off x="5111496" y="3108960"/>
            <a:ext cx="2212848" cy="320040"/>
          </a:xfrm>
          <a:prstGeom prst="rect">
            <a:avLst/>
          </a:prstGeom>
          <a:noFill/>
        </p:spPr>
        <p:txBody>
          <a:bodyPr wrap="square" lIns="0" rIns="0" tIns="0" bIns="0" anchor="t">
            <a:spAutoFit/>
          </a:bodyPr>
          <a:lstStyle/>
          <a:p>
            <a:pPr algn="ctr"/>
            <a:r>
              <a:rPr sz="1200" b="1" i="0" spc="250">
                <a:solidFill>
                  <a:srgbClr val="0F1B36"/>
                </a:solidFill>
                <a:latin typeface="Calibri"/>
              </a:rPr>
              <a:t>EMOTIONAL</a:t>
            </a:r>
          </a:p>
        </p:txBody>
      </p:sp>
      <p:sp>
        <p:nvSpPr>
          <p:cNvPr id="19" name="TextBox 18"/>
          <p:cNvSpPr txBox="1"/>
          <p:nvPr/>
        </p:nvSpPr>
        <p:spPr>
          <a:xfrm>
            <a:off x="5276088" y="3520440"/>
            <a:ext cx="1883664" cy="2103120"/>
          </a:xfrm>
          <a:prstGeom prst="rect">
            <a:avLst/>
          </a:prstGeom>
          <a:noFill/>
        </p:spPr>
        <p:txBody>
          <a:bodyPr wrap="square" lIns="0" rIns="0" tIns="0" bIns="0" anchor="t">
            <a:spAutoFit/>
          </a:bodyPr>
          <a:lstStyle/>
          <a:p>
            <a:pPr algn="ctr">
              <a:lnSpc>
                <a:spcPct val="135000"/>
              </a:lnSpc>
            </a:pPr>
            <a:r>
              <a:rPr sz="1300" b="0" i="1">
                <a:solidFill>
                  <a:srgbClr val="1B2436"/>
                </a:solidFill>
                <a:latin typeface="Georgia"/>
              </a:rPr>
              <a:t>Felt experience. Mood, regulation, the ability to notice and feel without being dragged under.</a:t>
            </a:r>
          </a:p>
        </p:txBody>
      </p:sp>
      <p:sp>
        <p:nvSpPr>
          <p:cNvPr id="20" name="Rectangle 19"/>
          <p:cNvSpPr/>
          <p:nvPr/>
        </p:nvSpPr>
        <p:spPr>
          <a:xfrm>
            <a:off x="7415783" y="2194560"/>
            <a:ext cx="2212848" cy="3520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15783" y="2194560"/>
            <a:ext cx="2212848" cy="91440"/>
          </a:xfrm>
          <a:prstGeom prst="rect">
            <a:avLst/>
          </a:prstGeom>
          <a:solidFill>
            <a:srgbClr val="5C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15783" y="2468880"/>
            <a:ext cx="2212848" cy="594360"/>
          </a:xfrm>
          <a:prstGeom prst="rect">
            <a:avLst/>
          </a:prstGeom>
          <a:noFill/>
        </p:spPr>
        <p:txBody>
          <a:bodyPr wrap="square" lIns="0" rIns="0" tIns="0" bIns="0" anchor="t">
            <a:spAutoFit/>
          </a:bodyPr>
          <a:lstStyle/>
          <a:p>
            <a:pPr algn="ctr"/>
            <a:r>
              <a:rPr sz="3400" b="0" i="0">
                <a:solidFill>
                  <a:srgbClr val="5C8C7F"/>
                </a:solidFill>
                <a:latin typeface="Georgia"/>
              </a:rPr>
              <a:t>❖</a:t>
            </a:r>
          </a:p>
        </p:txBody>
      </p:sp>
      <p:sp>
        <p:nvSpPr>
          <p:cNvPr id="23" name="TextBox 22"/>
          <p:cNvSpPr txBox="1"/>
          <p:nvPr/>
        </p:nvSpPr>
        <p:spPr>
          <a:xfrm>
            <a:off x="7415783" y="3108960"/>
            <a:ext cx="2212848" cy="320040"/>
          </a:xfrm>
          <a:prstGeom prst="rect">
            <a:avLst/>
          </a:prstGeom>
          <a:noFill/>
        </p:spPr>
        <p:txBody>
          <a:bodyPr wrap="square" lIns="0" rIns="0" tIns="0" bIns="0" anchor="t">
            <a:spAutoFit/>
          </a:bodyPr>
          <a:lstStyle/>
          <a:p>
            <a:pPr algn="ctr"/>
            <a:r>
              <a:rPr sz="1200" b="1" i="0" spc="250">
                <a:solidFill>
                  <a:srgbClr val="0F1B36"/>
                </a:solidFill>
                <a:latin typeface="Calibri"/>
              </a:rPr>
              <a:t>SOCIAL</a:t>
            </a:r>
          </a:p>
        </p:txBody>
      </p:sp>
      <p:sp>
        <p:nvSpPr>
          <p:cNvPr id="24" name="TextBox 23"/>
          <p:cNvSpPr txBox="1"/>
          <p:nvPr/>
        </p:nvSpPr>
        <p:spPr>
          <a:xfrm>
            <a:off x="7580375" y="3520440"/>
            <a:ext cx="1883664" cy="2103120"/>
          </a:xfrm>
          <a:prstGeom prst="rect">
            <a:avLst/>
          </a:prstGeom>
          <a:noFill/>
        </p:spPr>
        <p:txBody>
          <a:bodyPr wrap="square" lIns="0" rIns="0" tIns="0" bIns="0" anchor="t">
            <a:spAutoFit/>
          </a:bodyPr>
          <a:lstStyle/>
          <a:p>
            <a:pPr algn="ctr">
              <a:lnSpc>
                <a:spcPct val="135000"/>
              </a:lnSpc>
            </a:pPr>
            <a:r>
              <a:rPr sz="1300" b="0" i="1">
                <a:solidFill>
                  <a:srgbClr val="1B2436"/>
                </a:solidFill>
                <a:latin typeface="Georgia"/>
              </a:rPr>
              <a:t>The network you actually have. Depth, frequency, who answers the phone at 2 a.m.</a:t>
            </a:r>
          </a:p>
        </p:txBody>
      </p:sp>
      <p:sp>
        <p:nvSpPr>
          <p:cNvPr id="25" name="Rectangle 24"/>
          <p:cNvSpPr/>
          <p:nvPr/>
        </p:nvSpPr>
        <p:spPr>
          <a:xfrm>
            <a:off x="9720072" y="2194560"/>
            <a:ext cx="2212848" cy="3520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20072" y="2194560"/>
            <a:ext cx="2212848" cy="91440"/>
          </a:xfrm>
          <a:prstGeom prst="rect">
            <a:avLst/>
          </a:prstGeom>
          <a:solidFill>
            <a:srgbClr val="0F1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20072" y="2468880"/>
            <a:ext cx="2212848" cy="594360"/>
          </a:xfrm>
          <a:prstGeom prst="rect">
            <a:avLst/>
          </a:prstGeom>
          <a:noFill/>
        </p:spPr>
        <p:txBody>
          <a:bodyPr wrap="square" lIns="0" rIns="0" tIns="0" bIns="0" anchor="t">
            <a:spAutoFit/>
          </a:bodyPr>
          <a:lstStyle/>
          <a:p>
            <a:pPr algn="ctr"/>
            <a:r>
              <a:rPr sz="3400" b="0" i="0">
                <a:solidFill>
                  <a:srgbClr val="0F1B36"/>
                </a:solidFill>
                <a:latin typeface="Georgia"/>
              </a:rPr>
              <a:t>✦</a:t>
            </a:r>
          </a:p>
        </p:txBody>
      </p:sp>
      <p:sp>
        <p:nvSpPr>
          <p:cNvPr id="28" name="TextBox 27"/>
          <p:cNvSpPr txBox="1"/>
          <p:nvPr/>
        </p:nvSpPr>
        <p:spPr>
          <a:xfrm>
            <a:off x="9720072" y="3108960"/>
            <a:ext cx="2212848" cy="320040"/>
          </a:xfrm>
          <a:prstGeom prst="rect">
            <a:avLst/>
          </a:prstGeom>
          <a:noFill/>
        </p:spPr>
        <p:txBody>
          <a:bodyPr wrap="square" lIns="0" rIns="0" tIns="0" bIns="0" anchor="t">
            <a:spAutoFit/>
          </a:bodyPr>
          <a:lstStyle/>
          <a:p>
            <a:pPr algn="ctr"/>
            <a:r>
              <a:rPr sz="1200" b="1" i="0" spc="250">
                <a:solidFill>
                  <a:srgbClr val="0F1B36"/>
                </a:solidFill>
                <a:latin typeface="Calibri"/>
              </a:rPr>
              <a:t>SPIRITUAL</a:t>
            </a:r>
          </a:p>
        </p:txBody>
      </p:sp>
      <p:sp>
        <p:nvSpPr>
          <p:cNvPr id="29" name="TextBox 28"/>
          <p:cNvSpPr txBox="1"/>
          <p:nvPr/>
        </p:nvSpPr>
        <p:spPr>
          <a:xfrm>
            <a:off x="9884664" y="3520440"/>
            <a:ext cx="1883664" cy="2103120"/>
          </a:xfrm>
          <a:prstGeom prst="rect">
            <a:avLst/>
          </a:prstGeom>
          <a:noFill/>
        </p:spPr>
        <p:txBody>
          <a:bodyPr wrap="square" lIns="0" rIns="0" tIns="0" bIns="0" anchor="t">
            <a:spAutoFit/>
          </a:bodyPr>
          <a:lstStyle/>
          <a:p>
            <a:pPr algn="ctr">
              <a:lnSpc>
                <a:spcPct val="135000"/>
              </a:lnSpc>
            </a:pPr>
            <a:r>
              <a:rPr sz="1300" b="0" i="1">
                <a:solidFill>
                  <a:srgbClr val="1B2436"/>
                </a:solidFill>
                <a:latin typeface="Georgia"/>
              </a:rPr>
              <a:t>Sense of meaning and orientation. Why this is for. The thing that gets you back up.</a:t>
            </a:r>
          </a:p>
        </p:txBody>
      </p:sp>
      <p:sp>
        <p:nvSpPr>
          <p:cNvPr id="30" name="TextBox 29"/>
          <p:cNvSpPr txBox="1"/>
          <p:nvPr/>
        </p:nvSpPr>
        <p:spPr>
          <a:xfrm>
            <a:off x="640080" y="6080760"/>
            <a:ext cx="10972800" cy="365760"/>
          </a:xfrm>
          <a:prstGeom prst="rect">
            <a:avLst/>
          </a:prstGeom>
          <a:noFill/>
        </p:spPr>
        <p:txBody>
          <a:bodyPr wrap="square" lIns="0" rIns="0" tIns="0" bIns="0" anchor="t">
            <a:spAutoFit/>
          </a:bodyPr>
          <a:lstStyle/>
          <a:p>
            <a:pPr algn="ctr"/>
            <a:r>
              <a:rPr sz="1450" b="0" i="1">
                <a:solidFill>
                  <a:srgbClr val="5A7A8C"/>
                </a:solidFill>
                <a:latin typeface="Georgia"/>
              </a:rPr>
              <a:t>You know most of what each one means. The interesting part is what's between them.</a:t>
            </a:r>
          </a:p>
        </p:txBody>
      </p:sp>
      <p:sp>
        <p:nvSpPr>
          <p:cNvPr id="31" name="TextBox 30"/>
          <p:cNvSpPr txBox="1"/>
          <p:nvPr/>
        </p:nvSpPr>
        <p:spPr>
          <a:xfrm>
            <a:off x="457200" y="6446520"/>
            <a:ext cx="1828800" cy="274320"/>
          </a:xfrm>
          <a:prstGeom prst="rect">
            <a:avLst/>
          </a:prstGeom>
          <a:noFill/>
        </p:spPr>
        <p:txBody>
          <a:bodyPr wrap="square" lIns="0" rIns="0" tIns="0" bIns="0" anchor="t">
            <a:spAutoFit/>
          </a:bodyPr>
          <a:lstStyle/>
          <a:p>
            <a:pPr algn="l"/>
            <a:r>
              <a:rPr sz="900" b="0" i="1">
                <a:solidFill>
                  <a:srgbClr val="6B778B"/>
                </a:solidFill>
                <a:latin typeface="Calibri"/>
              </a:rPr>
              <a:t>04 ·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40080" y="502920"/>
            <a:ext cx="10972800" cy="365760"/>
          </a:xfrm>
          <a:prstGeom prst="rect">
            <a:avLst/>
          </a:prstGeom>
          <a:noFill/>
        </p:spPr>
        <p:txBody>
          <a:bodyPr wrap="square" lIns="0" rIns="0" tIns="0" bIns="0" anchor="t">
            <a:spAutoFit/>
          </a:bodyPr>
          <a:lstStyle/>
          <a:p>
            <a:pPr algn="l"/>
            <a:r>
              <a:rPr sz="1100" b="1" i="0" spc="250">
                <a:solidFill>
                  <a:srgbClr val="D4A24C"/>
                </a:solidFill>
                <a:latin typeface="Calibri"/>
              </a:rPr>
              <a:t>DIMENSION · 1 OF 5</a:t>
            </a:r>
          </a:p>
        </p:txBody>
      </p:sp>
      <p:sp>
        <p:nvSpPr>
          <p:cNvPr id="3" name="TextBox 2"/>
          <p:cNvSpPr txBox="1"/>
          <p:nvPr/>
        </p:nvSpPr>
        <p:spPr>
          <a:xfrm>
            <a:off x="640080" y="868680"/>
            <a:ext cx="10972800" cy="914400"/>
          </a:xfrm>
          <a:prstGeom prst="rect">
            <a:avLst/>
          </a:prstGeom>
          <a:noFill/>
        </p:spPr>
        <p:txBody>
          <a:bodyPr wrap="square" lIns="0" rIns="0" tIns="0" bIns="0" anchor="t">
            <a:spAutoFit/>
          </a:bodyPr>
          <a:lstStyle/>
          <a:p>
            <a:pPr algn="l"/>
            <a:r>
              <a:rPr sz="4600" b="1" i="0">
                <a:solidFill>
                  <a:srgbClr val="0F1B36"/>
                </a:solidFill>
                <a:latin typeface="Georgia"/>
              </a:rPr>
              <a:t>Physical</a:t>
            </a:r>
          </a:p>
        </p:txBody>
      </p:sp>
      <p:sp>
        <p:nvSpPr>
          <p:cNvPr id="4" name="Oval 3"/>
          <p:cNvSpPr/>
          <p:nvPr/>
        </p:nvSpPr>
        <p:spPr>
          <a:xfrm>
            <a:off x="685800" y="2286000"/>
            <a:ext cx="3200400" cy="3200400"/>
          </a:xfrm>
          <a:prstGeom prst="ellipse">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0"/>
            <a:ext cx="3017520" cy="1554480"/>
          </a:xfrm>
          <a:prstGeom prst="rect">
            <a:avLst/>
          </a:prstGeom>
          <a:noFill/>
        </p:spPr>
        <p:txBody>
          <a:bodyPr wrap="square" lIns="0" rIns="0" tIns="0" bIns="0" anchor="ctr">
            <a:spAutoFit/>
          </a:bodyPr>
          <a:lstStyle/>
          <a:p>
            <a:pPr algn="ctr"/>
            <a:r>
              <a:rPr sz="12000" b="0" i="0">
                <a:solidFill>
                  <a:srgbClr val="0F1B36"/>
                </a:solidFill>
                <a:latin typeface="Georgia"/>
              </a:rPr>
              <a:t>♥</a:t>
            </a:r>
          </a:p>
        </p:txBody>
      </p:sp>
      <p:sp>
        <p:nvSpPr>
          <p:cNvPr id="6" name="TextBox 5"/>
          <p:cNvSpPr txBox="1"/>
          <p:nvPr/>
        </p:nvSpPr>
        <p:spPr>
          <a:xfrm>
            <a:off x="4754880" y="2560320"/>
            <a:ext cx="6858000" cy="1280160"/>
          </a:xfrm>
          <a:prstGeom prst="rect">
            <a:avLst/>
          </a:prstGeom>
          <a:noFill/>
        </p:spPr>
        <p:txBody>
          <a:bodyPr wrap="square" lIns="0" rIns="0" tIns="0" bIns="0" anchor="t">
            <a:spAutoFit/>
          </a:bodyPr>
          <a:lstStyle/>
          <a:p>
            <a:pPr algn="l">
              <a:lnSpc>
                <a:spcPct val="125000"/>
              </a:lnSpc>
            </a:pPr>
            <a:r>
              <a:rPr sz="2400" b="0" i="1">
                <a:solidFill>
                  <a:srgbClr val="0F1B36"/>
                </a:solidFill>
                <a:latin typeface="Georgia"/>
              </a:rPr>
              <a:t>Your body's basic operating capacity.</a:t>
            </a:r>
          </a:p>
        </p:txBody>
      </p:sp>
      <p:sp>
        <p:nvSpPr>
          <p:cNvPr id="7" name="TextBox 6"/>
          <p:cNvSpPr txBox="1"/>
          <p:nvPr/>
        </p:nvSpPr>
        <p:spPr>
          <a:xfrm>
            <a:off x="4754880" y="3931920"/>
            <a:ext cx="6400800" cy="365760"/>
          </a:xfrm>
          <a:prstGeom prst="rect">
            <a:avLst/>
          </a:prstGeom>
          <a:noFill/>
        </p:spPr>
        <p:txBody>
          <a:bodyPr wrap="square" lIns="0" rIns="0" tIns="0" bIns="0" anchor="t">
            <a:spAutoFit/>
          </a:bodyPr>
          <a:lstStyle/>
          <a:p>
            <a:pPr algn="l"/>
            <a:r>
              <a:rPr sz="1100" b="1" i="0" spc="250">
                <a:solidFill>
                  <a:srgbClr val="D4A24C"/>
                </a:solidFill>
                <a:latin typeface="Calibri"/>
              </a:rPr>
              <a:t>INCLUDES</a:t>
            </a:r>
          </a:p>
        </p:txBody>
      </p:sp>
      <p:sp>
        <p:nvSpPr>
          <p:cNvPr id="8" name="TextBox 7"/>
          <p:cNvSpPr txBox="1"/>
          <p:nvPr/>
        </p:nvSpPr>
        <p:spPr>
          <a:xfrm>
            <a:off x="4754880" y="4389120"/>
            <a:ext cx="6858000" cy="1828800"/>
          </a:xfrm>
          <a:prstGeom prst="rect">
            <a:avLst/>
          </a:prstGeom>
          <a:noFill/>
        </p:spPr>
        <p:txBody>
          <a:bodyPr wrap="square" lIns="0" rIns="0" tIns="0" bIns="0" anchor="t">
            <a:spAutoFit/>
          </a:bodyPr>
          <a:lstStyle/>
          <a:p>
            <a:pPr algn="l">
              <a:lnSpc>
                <a:spcPct val="150000"/>
              </a:lnSpc>
            </a:pPr>
            <a:r>
              <a:rPr sz="1400" b="0" i="0">
                <a:solidFill>
                  <a:srgbClr val="1B2436"/>
                </a:solidFill>
                <a:latin typeface="Calibri"/>
              </a:rPr>
              <a:t>›  Sleep — quality, duration, regularity</a:t>
            </a:r>
          </a:p>
          <a:p>
            <a:pPr algn="l">
              <a:lnSpc>
                <a:spcPct val="150000"/>
              </a:lnSpc>
            </a:pPr>
            <a:r>
              <a:rPr sz="1400" b="0" i="0">
                <a:solidFill>
                  <a:srgbClr val="1B2436"/>
                </a:solidFill>
                <a:latin typeface="Calibri"/>
              </a:rPr>
              <a:t>›  Movement — cardio, strength, mobility</a:t>
            </a:r>
          </a:p>
          <a:p>
            <a:pPr algn="l">
              <a:lnSpc>
                <a:spcPct val="150000"/>
              </a:lnSpc>
            </a:pPr>
            <a:r>
              <a:rPr sz="1400" b="0" i="0">
                <a:solidFill>
                  <a:srgbClr val="1B2436"/>
                </a:solidFill>
                <a:latin typeface="Calibri"/>
              </a:rPr>
              <a:t>›  Nutrition — fuel and hydration</a:t>
            </a:r>
          </a:p>
          <a:p>
            <a:pPr algn="l">
              <a:lnSpc>
                <a:spcPct val="150000"/>
              </a:lnSpc>
            </a:pPr>
            <a:r>
              <a:rPr sz="1400" b="0" i="0">
                <a:solidFill>
                  <a:srgbClr val="1B2436"/>
                </a:solidFill>
                <a:latin typeface="Calibri"/>
              </a:rPr>
              <a:t>›  Recovery — illness, injury, energy at noon</a:t>
            </a:r>
          </a:p>
        </p:txBody>
      </p:sp>
      <p:sp>
        <p:nvSpPr>
          <p:cNvPr id="9" name="TextBox 8"/>
          <p:cNvSpPr txBox="1"/>
          <p:nvPr/>
        </p:nvSpPr>
        <p:spPr>
          <a:xfrm>
            <a:off x="457200" y="6446520"/>
            <a:ext cx="1828800" cy="274320"/>
          </a:xfrm>
          <a:prstGeom prst="rect">
            <a:avLst/>
          </a:prstGeom>
          <a:noFill/>
        </p:spPr>
        <p:txBody>
          <a:bodyPr wrap="square" lIns="0" rIns="0" tIns="0" bIns="0" anchor="t">
            <a:spAutoFit/>
          </a:bodyPr>
          <a:lstStyle/>
          <a:p>
            <a:pPr algn="l"/>
            <a:r>
              <a:rPr sz="900" b="0" i="1">
                <a:solidFill>
                  <a:srgbClr val="6B778B"/>
                </a:solidFill>
                <a:latin typeface="Calibri"/>
              </a:rPr>
              <a:t>05 ·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40080" y="502920"/>
            <a:ext cx="10972800" cy="365760"/>
          </a:xfrm>
          <a:prstGeom prst="rect">
            <a:avLst/>
          </a:prstGeom>
          <a:noFill/>
        </p:spPr>
        <p:txBody>
          <a:bodyPr wrap="square" lIns="0" rIns="0" tIns="0" bIns="0" anchor="t">
            <a:spAutoFit/>
          </a:bodyPr>
          <a:lstStyle/>
          <a:p>
            <a:pPr algn="l"/>
            <a:r>
              <a:rPr sz="1100" b="1" i="0" spc="250">
                <a:solidFill>
                  <a:srgbClr val="D4A24C"/>
                </a:solidFill>
                <a:latin typeface="Calibri"/>
              </a:rPr>
              <a:t>DIMENSION · 2 OF 5</a:t>
            </a:r>
          </a:p>
        </p:txBody>
      </p:sp>
      <p:sp>
        <p:nvSpPr>
          <p:cNvPr id="3" name="TextBox 2"/>
          <p:cNvSpPr txBox="1"/>
          <p:nvPr/>
        </p:nvSpPr>
        <p:spPr>
          <a:xfrm>
            <a:off x="640080" y="868680"/>
            <a:ext cx="10972800" cy="914400"/>
          </a:xfrm>
          <a:prstGeom prst="rect">
            <a:avLst/>
          </a:prstGeom>
          <a:noFill/>
        </p:spPr>
        <p:txBody>
          <a:bodyPr wrap="square" lIns="0" rIns="0" tIns="0" bIns="0" anchor="t">
            <a:spAutoFit/>
          </a:bodyPr>
          <a:lstStyle/>
          <a:p>
            <a:pPr algn="l"/>
            <a:r>
              <a:rPr sz="4600" b="1" i="0">
                <a:solidFill>
                  <a:srgbClr val="0F1B36"/>
                </a:solidFill>
                <a:latin typeface="Georgia"/>
              </a:rPr>
              <a:t>Mental</a:t>
            </a:r>
          </a:p>
        </p:txBody>
      </p:sp>
      <p:sp>
        <p:nvSpPr>
          <p:cNvPr id="4" name="Oval 3"/>
          <p:cNvSpPr/>
          <p:nvPr/>
        </p:nvSpPr>
        <p:spPr>
          <a:xfrm>
            <a:off x="685800" y="2286000"/>
            <a:ext cx="3200400" cy="3200400"/>
          </a:xfrm>
          <a:prstGeom prst="ellipse">
            <a:avLst/>
          </a:prstGeom>
          <a:solidFill>
            <a:srgbClr val="5A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0"/>
            <a:ext cx="3017520" cy="1554480"/>
          </a:xfrm>
          <a:prstGeom prst="rect">
            <a:avLst/>
          </a:prstGeom>
          <a:noFill/>
        </p:spPr>
        <p:txBody>
          <a:bodyPr wrap="square" lIns="0" rIns="0" tIns="0" bIns="0" anchor="ctr">
            <a:spAutoFit/>
          </a:bodyPr>
          <a:lstStyle/>
          <a:p>
            <a:pPr algn="ctr"/>
            <a:r>
              <a:rPr sz="12000" b="0" i="0">
                <a:solidFill>
                  <a:srgbClr val="FBF8F1"/>
                </a:solidFill>
                <a:latin typeface="Georgia"/>
              </a:rPr>
              <a:t>◐</a:t>
            </a:r>
          </a:p>
        </p:txBody>
      </p:sp>
      <p:sp>
        <p:nvSpPr>
          <p:cNvPr id="6" name="TextBox 5"/>
          <p:cNvSpPr txBox="1"/>
          <p:nvPr/>
        </p:nvSpPr>
        <p:spPr>
          <a:xfrm>
            <a:off x="4754880" y="2560320"/>
            <a:ext cx="6858000" cy="1280160"/>
          </a:xfrm>
          <a:prstGeom prst="rect">
            <a:avLst/>
          </a:prstGeom>
          <a:noFill/>
        </p:spPr>
        <p:txBody>
          <a:bodyPr wrap="square" lIns="0" rIns="0" tIns="0" bIns="0" anchor="t">
            <a:spAutoFit/>
          </a:bodyPr>
          <a:lstStyle/>
          <a:p>
            <a:pPr algn="l">
              <a:lnSpc>
                <a:spcPct val="125000"/>
              </a:lnSpc>
            </a:pPr>
            <a:r>
              <a:rPr sz="2400" b="0" i="1">
                <a:solidFill>
                  <a:srgbClr val="0F1B36"/>
                </a:solidFill>
                <a:latin typeface="Georgia"/>
              </a:rPr>
              <a:t>Cognitive function in the day-to-day.</a:t>
            </a:r>
          </a:p>
        </p:txBody>
      </p:sp>
      <p:sp>
        <p:nvSpPr>
          <p:cNvPr id="7" name="TextBox 6"/>
          <p:cNvSpPr txBox="1"/>
          <p:nvPr/>
        </p:nvSpPr>
        <p:spPr>
          <a:xfrm>
            <a:off x="4754880" y="3931920"/>
            <a:ext cx="6400800" cy="365760"/>
          </a:xfrm>
          <a:prstGeom prst="rect">
            <a:avLst/>
          </a:prstGeom>
          <a:noFill/>
        </p:spPr>
        <p:txBody>
          <a:bodyPr wrap="square" lIns="0" rIns="0" tIns="0" bIns="0" anchor="t">
            <a:spAutoFit/>
          </a:bodyPr>
          <a:lstStyle/>
          <a:p>
            <a:pPr algn="l"/>
            <a:r>
              <a:rPr sz="1100" b="1" i="0" spc="250">
                <a:solidFill>
                  <a:srgbClr val="D4A24C"/>
                </a:solidFill>
                <a:latin typeface="Calibri"/>
              </a:rPr>
              <a:t>INCLUDES</a:t>
            </a:r>
          </a:p>
        </p:txBody>
      </p:sp>
      <p:sp>
        <p:nvSpPr>
          <p:cNvPr id="8" name="TextBox 7"/>
          <p:cNvSpPr txBox="1"/>
          <p:nvPr/>
        </p:nvSpPr>
        <p:spPr>
          <a:xfrm>
            <a:off x="4754880" y="4389120"/>
            <a:ext cx="6858000" cy="1828800"/>
          </a:xfrm>
          <a:prstGeom prst="rect">
            <a:avLst/>
          </a:prstGeom>
          <a:noFill/>
        </p:spPr>
        <p:txBody>
          <a:bodyPr wrap="square" lIns="0" rIns="0" tIns="0" bIns="0" anchor="t">
            <a:spAutoFit/>
          </a:bodyPr>
          <a:lstStyle/>
          <a:p>
            <a:pPr algn="l">
              <a:lnSpc>
                <a:spcPct val="150000"/>
              </a:lnSpc>
            </a:pPr>
            <a:r>
              <a:rPr sz="1400" b="0" i="0">
                <a:solidFill>
                  <a:srgbClr val="1B2436"/>
                </a:solidFill>
                <a:latin typeface="Calibri"/>
              </a:rPr>
              <a:t>›  Focus — staying with one thing</a:t>
            </a:r>
          </a:p>
          <a:p>
            <a:pPr algn="l">
              <a:lnSpc>
                <a:spcPct val="150000"/>
              </a:lnSpc>
            </a:pPr>
            <a:r>
              <a:rPr sz="1400" b="0" i="0">
                <a:solidFill>
                  <a:srgbClr val="1B2436"/>
                </a:solidFill>
                <a:latin typeface="Calibri"/>
              </a:rPr>
              <a:t>›  Learning — taking in something new</a:t>
            </a:r>
          </a:p>
          <a:p>
            <a:pPr algn="l">
              <a:lnSpc>
                <a:spcPct val="150000"/>
              </a:lnSpc>
            </a:pPr>
            <a:r>
              <a:rPr sz="1400" b="0" i="0">
                <a:solidFill>
                  <a:srgbClr val="1B2436"/>
                </a:solidFill>
                <a:latin typeface="Calibri"/>
              </a:rPr>
              <a:t>›  Problem-solving — thinking a thought to its end</a:t>
            </a:r>
          </a:p>
          <a:p>
            <a:pPr algn="l">
              <a:lnSpc>
                <a:spcPct val="150000"/>
              </a:lnSpc>
            </a:pPr>
            <a:r>
              <a:rPr sz="1400" b="0" i="0">
                <a:solidFill>
                  <a:srgbClr val="1B2436"/>
                </a:solidFill>
                <a:latin typeface="Calibri"/>
              </a:rPr>
              <a:t>›  Working memory — holding the pieces while you assemble them</a:t>
            </a:r>
          </a:p>
        </p:txBody>
      </p:sp>
      <p:sp>
        <p:nvSpPr>
          <p:cNvPr id="9" name="TextBox 8"/>
          <p:cNvSpPr txBox="1"/>
          <p:nvPr/>
        </p:nvSpPr>
        <p:spPr>
          <a:xfrm>
            <a:off x="457200" y="6446520"/>
            <a:ext cx="1828800" cy="274320"/>
          </a:xfrm>
          <a:prstGeom prst="rect">
            <a:avLst/>
          </a:prstGeom>
          <a:noFill/>
        </p:spPr>
        <p:txBody>
          <a:bodyPr wrap="square" lIns="0" rIns="0" tIns="0" bIns="0" anchor="t">
            <a:spAutoFit/>
          </a:bodyPr>
          <a:lstStyle/>
          <a:p>
            <a:pPr algn="l"/>
            <a:r>
              <a:rPr sz="900" b="0" i="1">
                <a:solidFill>
                  <a:srgbClr val="6B778B"/>
                </a:solidFill>
                <a:latin typeface="Calibri"/>
              </a:rPr>
              <a:t>06 ·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40080" y="502920"/>
            <a:ext cx="10972800" cy="365760"/>
          </a:xfrm>
          <a:prstGeom prst="rect">
            <a:avLst/>
          </a:prstGeom>
          <a:noFill/>
        </p:spPr>
        <p:txBody>
          <a:bodyPr wrap="square" lIns="0" rIns="0" tIns="0" bIns="0" anchor="t">
            <a:spAutoFit/>
          </a:bodyPr>
          <a:lstStyle/>
          <a:p>
            <a:pPr algn="l"/>
            <a:r>
              <a:rPr sz="1100" b="1" i="0" spc="250">
                <a:solidFill>
                  <a:srgbClr val="D4A24C"/>
                </a:solidFill>
                <a:latin typeface="Calibri"/>
              </a:rPr>
              <a:t>DIMENSION · 3 OF 5</a:t>
            </a:r>
          </a:p>
        </p:txBody>
      </p:sp>
      <p:sp>
        <p:nvSpPr>
          <p:cNvPr id="3" name="TextBox 2"/>
          <p:cNvSpPr txBox="1"/>
          <p:nvPr/>
        </p:nvSpPr>
        <p:spPr>
          <a:xfrm>
            <a:off x="640080" y="868680"/>
            <a:ext cx="10972800" cy="914400"/>
          </a:xfrm>
          <a:prstGeom prst="rect">
            <a:avLst/>
          </a:prstGeom>
          <a:noFill/>
        </p:spPr>
        <p:txBody>
          <a:bodyPr wrap="square" lIns="0" rIns="0" tIns="0" bIns="0" anchor="t">
            <a:spAutoFit/>
          </a:bodyPr>
          <a:lstStyle/>
          <a:p>
            <a:pPr algn="l"/>
            <a:r>
              <a:rPr sz="4600" b="1" i="0">
                <a:solidFill>
                  <a:srgbClr val="0F1B36"/>
                </a:solidFill>
                <a:latin typeface="Georgia"/>
              </a:rPr>
              <a:t>Emotional</a:t>
            </a:r>
          </a:p>
        </p:txBody>
      </p:sp>
      <p:sp>
        <p:nvSpPr>
          <p:cNvPr id="4" name="Oval 3"/>
          <p:cNvSpPr/>
          <p:nvPr/>
        </p:nvSpPr>
        <p:spPr>
          <a:xfrm>
            <a:off x="685800" y="2286000"/>
            <a:ext cx="3200400" cy="3200400"/>
          </a:xfrm>
          <a:prstGeom prst="ellipse">
            <a:avLst/>
          </a:prstGeom>
          <a:solidFill>
            <a:srgbClr val="C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0"/>
            <a:ext cx="3017520" cy="1554480"/>
          </a:xfrm>
          <a:prstGeom prst="rect">
            <a:avLst/>
          </a:prstGeom>
          <a:noFill/>
        </p:spPr>
        <p:txBody>
          <a:bodyPr wrap="square" lIns="0" rIns="0" tIns="0" bIns="0" anchor="ctr">
            <a:spAutoFit/>
          </a:bodyPr>
          <a:lstStyle/>
          <a:p>
            <a:pPr algn="ctr"/>
            <a:r>
              <a:rPr sz="12000" b="0" i="0">
                <a:solidFill>
                  <a:srgbClr val="FBF8F1"/>
                </a:solidFill>
                <a:latin typeface="Georgia"/>
              </a:rPr>
              <a:t>◈</a:t>
            </a:r>
          </a:p>
        </p:txBody>
      </p:sp>
      <p:sp>
        <p:nvSpPr>
          <p:cNvPr id="6" name="TextBox 5"/>
          <p:cNvSpPr txBox="1"/>
          <p:nvPr/>
        </p:nvSpPr>
        <p:spPr>
          <a:xfrm>
            <a:off x="4754880" y="2560320"/>
            <a:ext cx="6858000" cy="1280160"/>
          </a:xfrm>
          <a:prstGeom prst="rect">
            <a:avLst/>
          </a:prstGeom>
          <a:noFill/>
        </p:spPr>
        <p:txBody>
          <a:bodyPr wrap="square" lIns="0" rIns="0" tIns="0" bIns="0" anchor="t">
            <a:spAutoFit/>
          </a:bodyPr>
          <a:lstStyle/>
          <a:p>
            <a:pPr algn="l">
              <a:lnSpc>
                <a:spcPct val="125000"/>
              </a:lnSpc>
            </a:pPr>
            <a:r>
              <a:rPr sz="2400" b="0" i="1">
                <a:solidFill>
                  <a:srgbClr val="0F1B36"/>
                </a:solidFill>
                <a:latin typeface="Georgia"/>
              </a:rPr>
              <a:t>Felt experience and your relationship to it.</a:t>
            </a:r>
          </a:p>
        </p:txBody>
      </p:sp>
      <p:sp>
        <p:nvSpPr>
          <p:cNvPr id="7" name="TextBox 6"/>
          <p:cNvSpPr txBox="1"/>
          <p:nvPr/>
        </p:nvSpPr>
        <p:spPr>
          <a:xfrm>
            <a:off x="4754880" y="3931920"/>
            <a:ext cx="6400800" cy="365760"/>
          </a:xfrm>
          <a:prstGeom prst="rect">
            <a:avLst/>
          </a:prstGeom>
          <a:noFill/>
        </p:spPr>
        <p:txBody>
          <a:bodyPr wrap="square" lIns="0" rIns="0" tIns="0" bIns="0" anchor="t">
            <a:spAutoFit/>
          </a:bodyPr>
          <a:lstStyle/>
          <a:p>
            <a:pPr algn="l"/>
            <a:r>
              <a:rPr sz="1100" b="1" i="0" spc="250">
                <a:solidFill>
                  <a:srgbClr val="D4A24C"/>
                </a:solidFill>
                <a:latin typeface="Calibri"/>
              </a:rPr>
              <a:t>INCLUDES</a:t>
            </a:r>
          </a:p>
        </p:txBody>
      </p:sp>
      <p:sp>
        <p:nvSpPr>
          <p:cNvPr id="8" name="TextBox 7"/>
          <p:cNvSpPr txBox="1"/>
          <p:nvPr/>
        </p:nvSpPr>
        <p:spPr>
          <a:xfrm>
            <a:off x="4754880" y="4389120"/>
            <a:ext cx="6858000" cy="1828800"/>
          </a:xfrm>
          <a:prstGeom prst="rect">
            <a:avLst/>
          </a:prstGeom>
          <a:noFill/>
        </p:spPr>
        <p:txBody>
          <a:bodyPr wrap="square" lIns="0" rIns="0" tIns="0" bIns="0" anchor="t">
            <a:spAutoFit/>
          </a:bodyPr>
          <a:lstStyle/>
          <a:p>
            <a:pPr algn="l">
              <a:lnSpc>
                <a:spcPct val="150000"/>
              </a:lnSpc>
            </a:pPr>
            <a:r>
              <a:rPr sz="1400" b="0" i="0">
                <a:solidFill>
                  <a:srgbClr val="1B2436"/>
                </a:solidFill>
                <a:latin typeface="Calibri"/>
              </a:rPr>
              <a:t>›  Mood — the baseline you walk around in</a:t>
            </a:r>
          </a:p>
          <a:p>
            <a:pPr algn="l">
              <a:lnSpc>
                <a:spcPct val="150000"/>
              </a:lnSpc>
            </a:pPr>
            <a:r>
              <a:rPr sz="1400" b="0" i="0">
                <a:solidFill>
                  <a:srgbClr val="1B2436"/>
                </a:solidFill>
                <a:latin typeface="Calibri"/>
              </a:rPr>
              <a:t>›  Regulation — what you do when something hits you</a:t>
            </a:r>
          </a:p>
          <a:p>
            <a:pPr algn="l">
              <a:lnSpc>
                <a:spcPct val="150000"/>
              </a:lnSpc>
            </a:pPr>
            <a:r>
              <a:rPr sz="1400" b="0" i="0">
                <a:solidFill>
                  <a:srgbClr val="1B2436"/>
                </a:solidFill>
                <a:latin typeface="Calibri"/>
              </a:rPr>
              <a:t>›  Awareness — noticing what you feel before it acts</a:t>
            </a:r>
          </a:p>
          <a:p>
            <a:pPr algn="l">
              <a:lnSpc>
                <a:spcPct val="150000"/>
              </a:lnSpc>
            </a:pPr>
            <a:r>
              <a:rPr sz="1400" b="0" i="0">
                <a:solidFill>
                  <a:srgbClr val="1B2436"/>
                </a:solidFill>
                <a:latin typeface="Calibri"/>
              </a:rPr>
              <a:t>›  Integration — feeling it without being it</a:t>
            </a:r>
          </a:p>
        </p:txBody>
      </p:sp>
      <p:sp>
        <p:nvSpPr>
          <p:cNvPr id="9" name="TextBox 8"/>
          <p:cNvSpPr txBox="1"/>
          <p:nvPr/>
        </p:nvSpPr>
        <p:spPr>
          <a:xfrm>
            <a:off x="457200" y="6446520"/>
            <a:ext cx="1828800" cy="274320"/>
          </a:xfrm>
          <a:prstGeom prst="rect">
            <a:avLst/>
          </a:prstGeom>
          <a:noFill/>
        </p:spPr>
        <p:txBody>
          <a:bodyPr wrap="square" lIns="0" rIns="0" tIns="0" bIns="0" anchor="t">
            <a:spAutoFit/>
          </a:bodyPr>
          <a:lstStyle/>
          <a:p>
            <a:pPr algn="l"/>
            <a:r>
              <a:rPr sz="900" b="0" i="1">
                <a:solidFill>
                  <a:srgbClr val="6B778B"/>
                </a:solidFill>
                <a:latin typeface="Calibri"/>
              </a:rPr>
              <a:t>07 ·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40080" y="502920"/>
            <a:ext cx="10972800" cy="365760"/>
          </a:xfrm>
          <a:prstGeom prst="rect">
            <a:avLst/>
          </a:prstGeom>
          <a:noFill/>
        </p:spPr>
        <p:txBody>
          <a:bodyPr wrap="square" lIns="0" rIns="0" tIns="0" bIns="0" anchor="t">
            <a:spAutoFit/>
          </a:bodyPr>
          <a:lstStyle/>
          <a:p>
            <a:pPr algn="l"/>
            <a:r>
              <a:rPr sz="1100" b="1" i="0" spc="250">
                <a:solidFill>
                  <a:srgbClr val="D4A24C"/>
                </a:solidFill>
                <a:latin typeface="Calibri"/>
              </a:rPr>
              <a:t>DIMENSION · 4 OF 5</a:t>
            </a:r>
          </a:p>
        </p:txBody>
      </p:sp>
      <p:sp>
        <p:nvSpPr>
          <p:cNvPr id="3" name="TextBox 2"/>
          <p:cNvSpPr txBox="1"/>
          <p:nvPr/>
        </p:nvSpPr>
        <p:spPr>
          <a:xfrm>
            <a:off x="640080" y="868680"/>
            <a:ext cx="10972800" cy="914400"/>
          </a:xfrm>
          <a:prstGeom prst="rect">
            <a:avLst/>
          </a:prstGeom>
          <a:noFill/>
        </p:spPr>
        <p:txBody>
          <a:bodyPr wrap="square" lIns="0" rIns="0" tIns="0" bIns="0" anchor="t">
            <a:spAutoFit/>
          </a:bodyPr>
          <a:lstStyle/>
          <a:p>
            <a:pPr algn="l"/>
            <a:r>
              <a:rPr sz="4600" b="1" i="0">
                <a:solidFill>
                  <a:srgbClr val="0F1B36"/>
                </a:solidFill>
                <a:latin typeface="Georgia"/>
              </a:rPr>
              <a:t>Social</a:t>
            </a:r>
          </a:p>
        </p:txBody>
      </p:sp>
      <p:sp>
        <p:nvSpPr>
          <p:cNvPr id="4" name="Oval 3"/>
          <p:cNvSpPr/>
          <p:nvPr/>
        </p:nvSpPr>
        <p:spPr>
          <a:xfrm>
            <a:off x="685800" y="2286000"/>
            <a:ext cx="3200400" cy="3200400"/>
          </a:xfrm>
          <a:prstGeom prst="ellipse">
            <a:avLst/>
          </a:prstGeom>
          <a:solidFill>
            <a:srgbClr val="5C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0"/>
            <a:ext cx="3017520" cy="1554480"/>
          </a:xfrm>
          <a:prstGeom prst="rect">
            <a:avLst/>
          </a:prstGeom>
          <a:noFill/>
        </p:spPr>
        <p:txBody>
          <a:bodyPr wrap="square" lIns="0" rIns="0" tIns="0" bIns="0" anchor="ctr">
            <a:spAutoFit/>
          </a:bodyPr>
          <a:lstStyle/>
          <a:p>
            <a:pPr algn="ctr"/>
            <a:r>
              <a:rPr sz="12000" b="0" i="0">
                <a:solidFill>
                  <a:srgbClr val="FBF8F1"/>
                </a:solidFill>
                <a:latin typeface="Georgia"/>
              </a:rPr>
              <a:t>❖</a:t>
            </a:r>
          </a:p>
        </p:txBody>
      </p:sp>
      <p:sp>
        <p:nvSpPr>
          <p:cNvPr id="6" name="TextBox 5"/>
          <p:cNvSpPr txBox="1"/>
          <p:nvPr/>
        </p:nvSpPr>
        <p:spPr>
          <a:xfrm>
            <a:off x="4754880" y="2560320"/>
            <a:ext cx="6858000" cy="1280160"/>
          </a:xfrm>
          <a:prstGeom prst="rect">
            <a:avLst/>
          </a:prstGeom>
          <a:noFill/>
        </p:spPr>
        <p:txBody>
          <a:bodyPr wrap="square" lIns="0" rIns="0" tIns="0" bIns="0" anchor="t">
            <a:spAutoFit/>
          </a:bodyPr>
          <a:lstStyle/>
          <a:p>
            <a:pPr algn="l">
              <a:lnSpc>
                <a:spcPct val="125000"/>
              </a:lnSpc>
            </a:pPr>
            <a:r>
              <a:rPr sz="2400" b="0" i="1">
                <a:solidFill>
                  <a:srgbClr val="0F1B36"/>
                </a:solidFill>
                <a:latin typeface="Georgia"/>
              </a:rPr>
              <a:t>The network of people you actually have.</a:t>
            </a:r>
          </a:p>
        </p:txBody>
      </p:sp>
      <p:sp>
        <p:nvSpPr>
          <p:cNvPr id="7" name="TextBox 6"/>
          <p:cNvSpPr txBox="1"/>
          <p:nvPr/>
        </p:nvSpPr>
        <p:spPr>
          <a:xfrm>
            <a:off x="4754880" y="3931920"/>
            <a:ext cx="6400800" cy="365760"/>
          </a:xfrm>
          <a:prstGeom prst="rect">
            <a:avLst/>
          </a:prstGeom>
          <a:noFill/>
        </p:spPr>
        <p:txBody>
          <a:bodyPr wrap="square" lIns="0" rIns="0" tIns="0" bIns="0" anchor="t">
            <a:spAutoFit/>
          </a:bodyPr>
          <a:lstStyle/>
          <a:p>
            <a:pPr algn="l"/>
            <a:r>
              <a:rPr sz="1100" b="1" i="0" spc="250">
                <a:solidFill>
                  <a:srgbClr val="D4A24C"/>
                </a:solidFill>
                <a:latin typeface="Calibri"/>
              </a:rPr>
              <a:t>INCLUDES</a:t>
            </a:r>
          </a:p>
        </p:txBody>
      </p:sp>
      <p:sp>
        <p:nvSpPr>
          <p:cNvPr id="8" name="TextBox 7"/>
          <p:cNvSpPr txBox="1"/>
          <p:nvPr/>
        </p:nvSpPr>
        <p:spPr>
          <a:xfrm>
            <a:off x="4754880" y="4389120"/>
            <a:ext cx="6858000" cy="1828800"/>
          </a:xfrm>
          <a:prstGeom prst="rect">
            <a:avLst/>
          </a:prstGeom>
          <a:noFill/>
        </p:spPr>
        <p:txBody>
          <a:bodyPr wrap="square" lIns="0" rIns="0" tIns="0" bIns="0" anchor="t">
            <a:spAutoFit/>
          </a:bodyPr>
          <a:lstStyle/>
          <a:p>
            <a:pPr algn="l">
              <a:lnSpc>
                <a:spcPct val="150000"/>
              </a:lnSpc>
            </a:pPr>
            <a:r>
              <a:rPr sz="1400" b="0" i="0">
                <a:solidFill>
                  <a:srgbClr val="1B2436"/>
                </a:solidFill>
                <a:latin typeface="Calibri"/>
              </a:rPr>
              <a:t>›  Depth — who knows the unflattering version</a:t>
            </a:r>
          </a:p>
          <a:p>
            <a:pPr algn="l">
              <a:lnSpc>
                <a:spcPct val="150000"/>
              </a:lnSpc>
            </a:pPr>
            <a:r>
              <a:rPr sz="1400" b="0" i="0">
                <a:solidFill>
                  <a:srgbClr val="1B2436"/>
                </a:solidFill>
                <a:latin typeface="Calibri"/>
              </a:rPr>
              <a:t>›  Frequency — how often you actually talk</a:t>
            </a:r>
          </a:p>
          <a:p>
            <a:pPr algn="l">
              <a:lnSpc>
                <a:spcPct val="150000"/>
              </a:lnSpc>
            </a:pPr>
            <a:r>
              <a:rPr sz="1400" b="0" i="0">
                <a:solidFill>
                  <a:srgbClr val="1B2436"/>
                </a:solidFill>
                <a:latin typeface="Calibri"/>
              </a:rPr>
              <a:t>›  Reciprocity — both directions, not one</a:t>
            </a:r>
          </a:p>
          <a:p>
            <a:pPr algn="l">
              <a:lnSpc>
                <a:spcPct val="150000"/>
              </a:lnSpc>
            </a:pPr>
            <a:r>
              <a:rPr sz="1400" b="0" i="0">
                <a:solidFill>
                  <a:srgbClr val="1B2436"/>
                </a:solidFill>
                <a:latin typeface="Calibri"/>
              </a:rPr>
              <a:t>›  Presence — time spent being, not transacting</a:t>
            </a:r>
          </a:p>
        </p:txBody>
      </p:sp>
      <p:sp>
        <p:nvSpPr>
          <p:cNvPr id="9" name="TextBox 8"/>
          <p:cNvSpPr txBox="1"/>
          <p:nvPr/>
        </p:nvSpPr>
        <p:spPr>
          <a:xfrm>
            <a:off x="457200" y="6446520"/>
            <a:ext cx="1828800" cy="274320"/>
          </a:xfrm>
          <a:prstGeom prst="rect">
            <a:avLst/>
          </a:prstGeom>
          <a:noFill/>
        </p:spPr>
        <p:txBody>
          <a:bodyPr wrap="square" lIns="0" rIns="0" tIns="0" bIns="0" anchor="t">
            <a:spAutoFit/>
          </a:bodyPr>
          <a:lstStyle/>
          <a:p>
            <a:pPr algn="l"/>
            <a:r>
              <a:rPr sz="900" b="0" i="1">
                <a:solidFill>
                  <a:srgbClr val="6B778B"/>
                </a:solidFill>
                <a:latin typeface="Calibri"/>
              </a:rPr>
              <a:t>08 · 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40080" y="502920"/>
            <a:ext cx="10972800" cy="365760"/>
          </a:xfrm>
          <a:prstGeom prst="rect">
            <a:avLst/>
          </a:prstGeom>
          <a:noFill/>
        </p:spPr>
        <p:txBody>
          <a:bodyPr wrap="square" lIns="0" rIns="0" tIns="0" bIns="0" anchor="t">
            <a:spAutoFit/>
          </a:bodyPr>
          <a:lstStyle/>
          <a:p>
            <a:pPr algn="l"/>
            <a:r>
              <a:rPr sz="1100" b="1" i="0" spc="250">
                <a:solidFill>
                  <a:srgbClr val="D4A24C"/>
                </a:solidFill>
                <a:latin typeface="Calibri"/>
              </a:rPr>
              <a:t>DIMENSION · 5 OF 5</a:t>
            </a:r>
          </a:p>
        </p:txBody>
      </p:sp>
      <p:sp>
        <p:nvSpPr>
          <p:cNvPr id="3" name="TextBox 2"/>
          <p:cNvSpPr txBox="1"/>
          <p:nvPr/>
        </p:nvSpPr>
        <p:spPr>
          <a:xfrm>
            <a:off x="640080" y="868680"/>
            <a:ext cx="10972800" cy="914400"/>
          </a:xfrm>
          <a:prstGeom prst="rect">
            <a:avLst/>
          </a:prstGeom>
          <a:noFill/>
        </p:spPr>
        <p:txBody>
          <a:bodyPr wrap="square" lIns="0" rIns="0" tIns="0" bIns="0" anchor="t">
            <a:spAutoFit/>
          </a:bodyPr>
          <a:lstStyle/>
          <a:p>
            <a:pPr algn="l"/>
            <a:r>
              <a:rPr sz="4600" b="1" i="0">
                <a:solidFill>
                  <a:srgbClr val="0F1B36"/>
                </a:solidFill>
                <a:latin typeface="Georgia"/>
              </a:rPr>
              <a:t>Spiritual</a:t>
            </a:r>
          </a:p>
        </p:txBody>
      </p:sp>
      <p:sp>
        <p:nvSpPr>
          <p:cNvPr id="4" name="Oval 3"/>
          <p:cNvSpPr/>
          <p:nvPr/>
        </p:nvSpPr>
        <p:spPr>
          <a:xfrm>
            <a:off x="685800" y="2286000"/>
            <a:ext cx="3200400" cy="3200400"/>
          </a:xfrm>
          <a:prstGeom prst="ellipse">
            <a:avLst/>
          </a:prstGeom>
          <a:solidFill>
            <a:srgbClr val="0F1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0"/>
            <a:ext cx="3017520" cy="1554480"/>
          </a:xfrm>
          <a:prstGeom prst="rect">
            <a:avLst/>
          </a:prstGeom>
          <a:noFill/>
        </p:spPr>
        <p:txBody>
          <a:bodyPr wrap="square" lIns="0" rIns="0" tIns="0" bIns="0" anchor="ctr">
            <a:spAutoFit/>
          </a:bodyPr>
          <a:lstStyle/>
          <a:p>
            <a:pPr algn="ctr"/>
            <a:r>
              <a:rPr sz="12000" b="0" i="0">
                <a:solidFill>
                  <a:srgbClr val="FBF8F1"/>
                </a:solidFill>
                <a:latin typeface="Georgia"/>
              </a:rPr>
              <a:t>✦</a:t>
            </a:r>
          </a:p>
        </p:txBody>
      </p:sp>
      <p:sp>
        <p:nvSpPr>
          <p:cNvPr id="6" name="TextBox 5"/>
          <p:cNvSpPr txBox="1"/>
          <p:nvPr/>
        </p:nvSpPr>
        <p:spPr>
          <a:xfrm>
            <a:off x="4754880" y="2560320"/>
            <a:ext cx="6858000" cy="1280160"/>
          </a:xfrm>
          <a:prstGeom prst="rect">
            <a:avLst/>
          </a:prstGeom>
          <a:noFill/>
        </p:spPr>
        <p:txBody>
          <a:bodyPr wrap="square" lIns="0" rIns="0" tIns="0" bIns="0" anchor="t">
            <a:spAutoFit/>
          </a:bodyPr>
          <a:lstStyle/>
          <a:p>
            <a:pPr algn="l">
              <a:lnSpc>
                <a:spcPct val="125000"/>
              </a:lnSpc>
            </a:pPr>
            <a:r>
              <a:rPr sz="2400" b="0" i="1">
                <a:solidFill>
                  <a:srgbClr val="0F1B36"/>
                </a:solidFill>
                <a:latin typeface="Georgia"/>
              </a:rPr>
              <a:t>Sense of meaning and orientation.</a:t>
            </a:r>
          </a:p>
        </p:txBody>
      </p:sp>
      <p:sp>
        <p:nvSpPr>
          <p:cNvPr id="7" name="TextBox 6"/>
          <p:cNvSpPr txBox="1"/>
          <p:nvPr/>
        </p:nvSpPr>
        <p:spPr>
          <a:xfrm>
            <a:off x="4754880" y="3931920"/>
            <a:ext cx="6400800" cy="365760"/>
          </a:xfrm>
          <a:prstGeom prst="rect">
            <a:avLst/>
          </a:prstGeom>
          <a:noFill/>
        </p:spPr>
        <p:txBody>
          <a:bodyPr wrap="square" lIns="0" rIns="0" tIns="0" bIns="0" anchor="t">
            <a:spAutoFit/>
          </a:bodyPr>
          <a:lstStyle/>
          <a:p>
            <a:pPr algn="l"/>
            <a:r>
              <a:rPr sz="1100" b="1" i="0" spc="250">
                <a:solidFill>
                  <a:srgbClr val="D4A24C"/>
                </a:solidFill>
                <a:latin typeface="Calibri"/>
              </a:rPr>
              <a:t>INCLUDES</a:t>
            </a:r>
          </a:p>
        </p:txBody>
      </p:sp>
      <p:sp>
        <p:nvSpPr>
          <p:cNvPr id="8" name="TextBox 7"/>
          <p:cNvSpPr txBox="1"/>
          <p:nvPr/>
        </p:nvSpPr>
        <p:spPr>
          <a:xfrm>
            <a:off x="4754880" y="4389120"/>
            <a:ext cx="6858000" cy="1828800"/>
          </a:xfrm>
          <a:prstGeom prst="rect">
            <a:avLst/>
          </a:prstGeom>
          <a:noFill/>
        </p:spPr>
        <p:txBody>
          <a:bodyPr wrap="square" lIns="0" rIns="0" tIns="0" bIns="0" anchor="t">
            <a:spAutoFit/>
          </a:bodyPr>
          <a:lstStyle/>
          <a:p>
            <a:pPr algn="l">
              <a:lnSpc>
                <a:spcPct val="150000"/>
              </a:lnSpc>
            </a:pPr>
            <a:r>
              <a:rPr sz="1400" b="0" i="0">
                <a:solidFill>
                  <a:srgbClr val="1B2436"/>
                </a:solidFill>
                <a:latin typeface="Calibri"/>
              </a:rPr>
              <a:t>›  Purpose — the answer to "what is this for?"</a:t>
            </a:r>
          </a:p>
          <a:p>
            <a:pPr algn="l">
              <a:lnSpc>
                <a:spcPct val="150000"/>
              </a:lnSpc>
            </a:pPr>
            <a:r>
              <a:rPr sz="1400" b="0" i="0">
                <a:solidFill>
                  <a:srgbClr val="1B2436"/>
                </a:solidFill>
                <a:latin typeface="Calibri"/>
              </a:rPr>
              <a:t>›  Values — what you actually move toward</a:t>
            </a:r>
          </a:p>
          <a:p>
            <a:pPr algn="l">
              <a:lnSpc>
                <a:spcPct val="150000"/>
              </a:lnSpc>
            </a:pPr>
            <a:r>
              <a:rPr sz="1400" b="0" i="0">
                <a:solidFill>
                  <a:srgbClr val="1B2436"/>
                </a:solidFill>
                <a:latin typeface="Calibri"/>
              </a:rPr>
              <a:t>›  Awe — being smaller than something</a:t>
            </a:r>
          </a:p>
          <a:p>
            <a:pPr algn="l">
              <a:lnSpc>
                <a:spcPct val="150000"/>
              </a:lnSpc>
            </a:pPr>
            <a:r>
              <a:rPr sz="1400" b="0" i="0">
                <a:solidFill>
                  <a:srgbClr val="1B2436"/>
                </a:solidFill>
                <a:latin typeface="Calibri"/>
              </a:rPr>
              <a:t>›  Re-up — what gets you back on your feet</a:t>
            </a:r>
          </a:p>
        </p:txBody>
      </p:sp>
      <p:sp>
        <p:nvSpPr>
          <p:cNvPr id="9" name="TextBox 8"/>
          <p:cNvSpPr txBox="1"/>
          <p:nvPr/>
        </p:nvSpPr>
        <p:spPr>
          <a:xfrm>
            <a:off x="457200" y="6446520"/>
            <a:ext cx="1828800" cy="274320"/>
          </a:xfrm>
          <a:prstGeom prst="rect">
            <a:avLst/>
          </a:prstGeom>
          <a:noFill/>
        </p:spPr>
        <p:txBody>
          <a:bodyPr wrap="square" lIns="0" rIns="0" tIns="0" bIns="0" anchor="t">
            <a:spAutoFit/>
          </a:bodyPr>
          <a:lstStyle/>
          <a:p>
            <a:pPr algn="l"/>
            <a:r>
              <a:rPr sz="900" b="0" i="1">
                <a:solidFill>
                  <a:srgbClr val="6B778B"/>
                </a:solidFill>
                <a:latin typeface="Calibri"/>
              </a:rPr>
              <a:t>09 ·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B36"/>
        </a:solidFill>
        <a:effectLst/>
      </p:bgPr>
    </p:bg>
    <p:spTree>
      <p:nvGrpSpPr>
        <p:cNvPr id="1" name=""/>
        <p:cNvGrpSpPr/>
        <p:nvPr/>
      </p:nvGrpSpPr>
      <p:grpSpPr/>
      <p:sp>
        <p:nvSpPr>
          <p:cNvPr id="2" name="TextBox 1"/>
          <p:cNvSpPr txBox="1"/>
          <p:nvPr/>
        </p:nvSpPr>
        <p:spPr>
          <a:xfrm>
            <a:off x="11521440" y="320040"/>
            <a:ext cx="457200" cy="411480"/>
          </a:xfrm>
          <a:prstGeom prst="rect">
            <a:avLst/>
          </a:prstGeom>
          <a:noFill/>
        </p:spPr>
        <p:txBody>
          <a:bodyPr wrap="square" lIns="0" rIns="0" tIns="0" bIns="0" anchor="t">
            <a:spAutoFit/>
          </a:bodyPr>
          <a:lstStyle/>
          <a:p>
            <a:pPr algn="l"/>
            <a:r>
              <a:rPr sz="1800" b="0" i="0">
                <a:solidFill>
                  <a:srgbClr val="D4A24C"/>
                </a:solidFill>
                <a:latin typeface="Georgia"/>
              </a:rPr>
              <a:t>✦</a:t>
            </a:r>
          </a:p>
        </p:txBody>
      </p:sp>
      <p:sp>
        <p:nvSpPr>
          <p:cNvPr id="3" name="TextBox 2"/>
          <p:cNvSpPr txBox="1"/>
          <p:nvPr/>
        </p:nvSpPr>
        <p:spPr>
          <a:xfrm>
            <a:off x="640080" y="868680"/>
            <a:ext cx="10972800" cy="365760"/>
          </a:xfrm>
          <a:prstGeom prst="rect">
            <a:avLst/>
          </a:prstGeom>
          <a:noFill/>
        </p:spPr>
        <p:txBody>
          <a:bodyPr wrap="square" lIns="0" rIns="0" tIns="0" bIns="0" anchor="t">
            <a:spAutoFit/>
          </a:bodyPr>
          <a:lstStyle/>
          <a:p>
            <a:pPr algn="l"/>
            <a:r>
              <a:rPr sz="1100" b="1" i="0" spc="250">
                <a:solidFill>
                  <a:srgbClr val="D4A24C"/>
                </a:solidFill>
                <a:latin typeface="Calibri"/>
              </a:rPr>
              <a:t>THE THESIS</a:t>
            </a:r>
          </a:p>
        </p:txBody>
      </p:sp>
      <p:sp>
        <p:nvSpPr>
          <p:cNvPr id="4" name="TextBox 3"/>
          <p:cNvSpPr txBox="1"/>
          <p:nvPr/>
        </p:nvSpPr>
        <p:spPr>
          <a:xfrm>
            <a:off x="640080" y="2148840"/>
            <a:ext cx="10881360" cy="777240"/>
          </a:xfrm>
          <a:prstGeom prst="rect">
            <a:avLst/>
          </a:prstGeom>
          <a:noFill/>
        </p:spPr>
        <p:txBody>
          <a:bodyPr wrap="square" lIns="0" rIns="0" tIns="0" bIns="0" anchor="t">
            <a:spAutoFit/>
          </a:bodyPr>
          <a:lstStyle/>
          <a:p>
            <a:pPr algn="ctr"/>
            <a:r>
              <a:rPr sz="3200" b="0" i="0">
                <a:solidFill>
                  <a:srgbClr val="FBF8F1"/>
                </a:solidFill>
                <a:latin typeface="Georgia"/>
              </a:rPr>
              <a:t>The five dimensions are not five things.</a:t>
            </a:r>
          </a:p>
        </p:txBody>
      </p:sp>
      <p:sp>
        <p:nvSpPr>
          <p:cNvPr id="5" name="TextBox 4"/>
          <p:cNvSpPr txBox="1"/>
          <p:nvPr/>
        </p:nvSpPr>
        <p:spPr>
          <a:xfrm>
            <a:off x="640080" y="3017520"/>
            <a:ext cx="10881360" cy="777240"/>
          </a:xfrm>
          <a:prstGeom prst="rect">
            <a:avLst/>
          </a:prstGeom>
          <a:noFill/>
        </p:spPr>
        <p:txBody>
          <a:bodyPr wrap="square" lIns="0" rIns="0" tIns="0" bIns="0" anchor="t">
            <a:spAutoFit/>
          </a:bodyPr>
          <a:lstStyle/>
          <a:p>
            <a:pPr algn="ctr"/>
            <a:r>
              <a:rPr sz="3200" b="0" i="1">
                <a:solidFill>
                  <a:srgbClr val="D4A24C"/>
                </a:solidFill>
                <a:latin typeface="Georgia"/>
              </a:rPr>
              <a:t>They are five views of the same thing,</a:t>
            </a:r>
          </a:p>
        </p:txBody>
      </p:sp>
      <p:sp>
        <p:nvSpPr>
          <p:cNvPr id="6" name="TextBox 5"/>
          <p:cNvSpPr txBox="1"/>
          <p:nvPr/>
        </p:nvSpPr>
        <p:spPr>
          <a:xfrm>
            <a:off x="640080" y="3840480"/>
            <a:ext cx="10881360" cy="777240"/>
          </a:xfrm>
          <a:prstGeom prst="rect">
            <a:avLst/>
          </a:prstGeom>
          <a:noFill/>
        </p:spPr>
        <p:txBody>
          <a:bodyPr wrap="square" lIns="0" rIns="0" tIns="0" bIns="0" anchor="t">
            <a:spAutoFit/>
          </a:bodyPr>
          <a:lstStyle/>
          <a:p>
            <a:pPr algn="ctr"/>
            <a:r>
              <a:rPr sz="3200" b="0" i="1">
                <a:solidFill>
                  <a:srgbClr val="FBF8F1"/>
                </a:solidFill>
                <a:latin typeface="Georgia"/>
              </a:rPr>
              <a:t>and a change in any one of them moves all the others.</a:t>
            </a:r>
          </a:p>
        </p:txBody>
      </p:sp>
      <p:sp>
        <p:nvSpPr>
          <p:cNvPr id="7" name="TextBox 6"/>
          <p:cNvSpPr txBox="1"/>
          <p:nvPr/>
        </p:nvSpPr>
        <p:spPr>
          <a:xfrm>
            <a:off x="640080" y="5852160"/>
            <a:ext cx="10881360" cy="365760"/>
          </a:xfrm>
          <a:prstGeom prst="rect">
            <a:avLst/>
          </a:prstGeom>
          <a:noFill/>
        </p:spPr>
        <p:txBody>
          <a:bodyPr wrap="square" lIns="0" rIns="0" tIns="0" bIns="0" anchor="t">
            <a:spAutoFit/>
          </a:bodyPr>
          <a:lstStyle/>
          <a:p>
            <a:pPr algn="ctr"/>
            <a:r>
              <a:rPr sz="1400" b="0" i="1">
                <a:solidFill>
                  <a:srgbClr val="8D97AB"/>
                </a:solidFill>
                <a:latin typeface="Calibri"/>
              </a:rPr>
              <a:t>What follows: five integration loops, each well-documented.</a:t>
            </a:r>
          </a:p>
        </p:txBody>
      </p:sp>
      <p:sp>
        <p:nvSpPr>
          <p:cNvPr id="8" name="TextBox 7"/>
          <p:cNvSpPr txBox="1"/>
          <p:nvPr/>
        </p:nvSpPr>
        <p:spPr>
          <a:xfrm>
            <a:off x="457200" y="6446520"/>
            <a:ext cx="1828800" cy="274320"/>
          </a:xfrm>
          <a:prstGeom prst="rect">
            <a:avLst/>
          </a:prstGeom>
          <a:noFill/>
        </p:spPr>
        <p:txBody>
          <a:bodyPr wrap="square" lIns="0" rIns="0" tIns="0" bIns="0" anchor="t">
            <a:spAutoFit/>
          </a:bodyPr>
          <a:lstStyle/>
          <a:p>
            <a:pPr algn="l"/>
            <a:r>
              <a:rPr sz="900" b="0" i="1">
                <a:solidFill>
                  <a:srgbClr val="8D97AB"/>
                </a:solidFill>
                <a:latin typeface="Calibri"/>
              </a:rPr>
              <a:t>10 ·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40080" y="502920"/>
            <a:ext cx="10972800" cy="365760"/>
          </a:xfrm>
          <a:prstGeom prst="rect">
            <a:avLst/>
          </a:prstGeom>
          <a:noFill/>
        </p:spPr>
        <p:txBody>
          <a:bodyPr wrap="square" lIns="0" rIns="0" tIns="0" bIns="0" anchor="t">
            <a:spAutoFit/>
          </a:bodyPr>
          <a:lstStyle/>
          <a:p>
            <a:pPr algn="l"/>
            <a:r>
              <a:rPr sz="1100" b="1" i="0" spc="250">
                <a:solidFill>
                  <a:srgbClr val="D4A24C"/>
                </a:solidFill>
                <a:latin typeface="Calibri"/>
              </a:rPr>
              <a:t>LOOP · 1 OF 5  ·  PHYSICAL → EMOTIONAL → SOCIAL</a:t>
            </a:r>
          </a:p>
        </p:txBody>
      </p:sp>
      <p:sp>
        <p:nvSpPr>
          <p:cNvPr id="3" name="TextBox 2"/>
          <p:cNvSpPr txBox="1"/>
          <p:nvPr/>
        </p:nvSpPr>
        <p:spPr>
          <a:xfrm>
            <a:off x="640080" y="868680"/>
            <a:ext cx="10972800" cy="914400"/>
          </a:xfrm>
          <a:prstGeom prst="rect">
            <a:avLst/>
          </a:prstGeom>
          <a:noFill/>
        </p:spPr>
        <p:txBody>
          <a:bodyPr wrap="square" lIns="0" rIns="0" tIns="0" bIns="0" anchor="t">
            <a:spAutoFit/>
          </a:bodyPr>
          <a:lstStyle/>
          <a:p>
            <a:pPr algn="l"/>
            <a:r>
              <a:rPr sz="3400" b="1" i="0">
                <a:solidFill>
                  <a:srgbClr val="0F1B36"/>
                </a:solidFill>
                <a:latin typeface="Georgia"/>
              </a:rPr>
              <a:t>Sleep is not just a physical input.</a:t>
            </a:r>
          </a:p>
        </p:txBody>
      </p:sp>
      <p:sp>
        <p:nvSpPr>
          <p:cNvPr id="4" name="Rectangle 3"/>
          <p:cNvSpPr/>
          <p:nvPr/>
        </p:nvSpPr>
        <p:spPr>
          <a:xfrm>
            <a:off x="640080" y="1783080"/>
            <a:ext cx="640080" cy="457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128016" cy="3749039"/>
          </a:xfrm>
          <a:prstGeom prst="rect">
            <a:avLst/>
          </a:prstGeom>
          <a:solidFill>
            <a:srgbClr val="5A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10515600" cy="960120"/>
          </a:xfrm>
          <a:prstGeom prst="rect">
            <a:avLst/>
          </a:prstGeom>
          <a:noFill/>
        </p:spPr>
        <p:txBody>
          <a:bodyPr wrap="square" lIns="0" rIns="0" tIns="0" bIns="0" anchor="t">
            <a:spAutoFit/>
          </a:bodyPr>
          <a:lstStyle/>
          <a:p>
            <a:pPr algn="l">
              <a:lnSpc>
                <a:spcPct val="130000"/>
              </a:lnSpc>
            </a:pPr>
            <a:r>
              <a:rPr sz="2200" b="0" i="1">
                <a:solidFill>
                  <a:srgbClr val="0F1B36"/>
                </a:solidFill>
                <a:latin typeface="Georgia"/>
              </a:rPr>
              <a:t>REM sleep is when the brain reduces the emotional charge on memories: the next-morning "it doesn't feel as bad now" effect.</a:t>
            </a:r>
          </a:p>
        </p:txBody>
      </p:sp>
      <p:sp>
        <p:nvSpPr>
          <p:cNvPr id="7" name="TextBox 6"/>
          <p:cNvSpPr txBox="1"/>
          <p:nvPr/>
        </p:nvSpPr>
        <p:spPr>
          <a:xfrm>
            <a:off x="1005840" y="3337560"/>
            <a:ext cx="10515600" cy="2286000"/>
          </a:xfrm>
          <a:prstGeom prst="rect">
            <a:avLst/>
          </a:prstGeom>
          <a:noFill/>
        </p:spPr>
        <p:txBody>
          <a:bodyPr wrap="square" lIns="0" rIns="0" tIns="0" bIns="0" anchor="t">
            <a:spAutoFit/>
          </a:bodyPr>
          <a:lstStyle/>
          <a:p>
            <a:pPr algn="l">
              <a:lnSpc>
                <a:spcPct val="150000"/>
              </a:lnSpc>
            </a:pPr>
            <a:r>
              <a:rPr sz="1400" b="0" i="0">
                <a:solidFill>
                  <a:srgbClr val="1B2436"/>
                </a:solidFill>
                <a:latin typeface="Calibri"/>
              </a:rPr>
              <a:t>A bad night is not just physical fatigue. Sleep-deprived brains show heightened amygdala reactivity and weakened prefrontal control: the rational manager is offline while the threat system is on overdrive. By Wednesday, last week's bad night has become an emotional regulation problem, a social withdrawal problem, and a work problem, all from one missing dimension.</a:t>
            </a:r>
          </a:p>
        </p:txBody>
      </p:sp>
      <p:sp>
        <p:nvSpPr>
          <p:cNvPr id="8" name="TextBox 7"/>
          <p:cNvSpPr txBox="1"/>
          <p:nvPr/>
        </p:nvSpPr>
        <p:spPr>
          <a:xfrm>
            <a:off x="1005840" y="5852160"/>
            <a:ext cx="10515600" cy="365760"/>
          </a:xfrm>
          <a:prstGeom prst="rect">
            <a:avLst/>
          </a:prstGeom>
          <a:noFill/>
        </p:spPr>
        <p:txBody>
          <a:bodyPr wrap="square" lIns="0" rIns="0" tIns="0" bIns="0" anchor="t">
            <a:spAutoFit/>
          </a:bodyPr>
          <a:lstStyle/>
          <a:p>
            <a:pPr algn="l"/>
            <a:r>
              <a:rPr sz="1150" b="1" i="1" spc="100">
                <a:solidFill>
                  <a:srgbClr val="5A7A8C"/>
                </a:solidFill>
                <a:latin typeface="Calibri"/>
              </a:rPr>
              <a:t>Walker, M. (2017). Why We Sleep. Scribner.   Walker (2009), Annals NYAS 1156.</a:t>
            </a:r>
          </a:p>
        </p:txBody>
      </p:sp>
      <p:sp>
        <p:nvSpPr>
          <p:cNvPr id="9" name="TextBox 8"/>
          <p:cNvSpPr txBox="1"/>
          <p:nvPr/>
        </p:nvSpPr>
        <p:spPr>
          <a:xfrm>
            <a:off x="457200" y="6446520"/>
            <a:ext cx="1828800" cy="274320"/>
          </a:xfrm>
          <a:prstGeom prst="rect">
            <a:avLst/>
          </a:prstGeom>
          <a:noFill/>
        </p:spPr>
        <p:txBody>
          <a:bodyPr wrap="square" lIns="0" rIns="0" tIns="0" bIns="0" anchor="t">
            <a:spAutoFit/>
          </a:bodyPr>
          <a:lstStyle/>
          <a:p>
            <a:pPr algn="l"/>
            <a:r>
              <a:rPr sz="900" b="0" i="1">
                <a:solidFill>
                  <a:srgbClr val="6B778B"/>
                </a:solidFill>
                <a:latin typeface="Calibri"/>
              </a:rPr>
              <a:t>11 ·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40080" y="502920"/>
            <a:ext cx="10972800" cy="365760"/>
          </a:xfrm>
          <a:prstGeom prst="rect">
            <a:avLst/>
          </a:prstGeom>
          <a:noFill/>
        </p:spPr>
        <p:txBody>
          <a:bodyPr wrap="square" lIns="0" rIns="0" tIns="0" bIns="0" anchor="t">
            <a:spAutoFit/>
          </a:bodyPr>
          <a:lstStyle/>
          <a:p>
            <a:pPr algn="l"/>
            <a:r>
              <a:rPr sz="1100" b="1" i="0" spc="250">
                <a:solidFill>
                  <a:srgbClr val="D4A24C"/>
                </a:solidFill>
                <a:latin typeface="Calibri"/>
              </a:rPr>
              <a:t>LOOP · 2 OF 5  ·  PHYSICAL → MENTAL → EMOTIONAL</a:t>
            </a:r>
          </a:p>
        </p:txBody>
      </p:sp>
      <p:sp>
        <p:nvSpPr>
          <p:cNvPr id="3" name="TextBox 2"/>
          <p:cNvSpPr txBox="1"/>
          <p:nvPr/>
        </p:nvSpPr>
        <p:spPr>
          <a:xfrm>
            <a:off x="640080" y="868680"/>
            <a:ext cx="10972800" cy="914400"/>
          </a:xfrm>
          <a:prstGeom prst="rect">
            <a:avLst/>
          </a:prstGeom>
          <a:noFill/>
        </p:spPr>
        <p:txBody>
          <a:bodyPr wrap="square" lIns="0" rIns="0" tIns="0" bIns="0" anchor="t">
            <a:spAutoFit/>
          </a:bodyPr>
          <a:lstStyle/>
          <a:p>
            <a:pPr algn="l"/>
            <a:r>
              <a:rPr sz="3400" b="1" i="0">
                <a:solidFill>
                  <a:srgbClr val="0F1B36"/>
                </a:solidFill>
                <a:latin typeface="Georgia"/>
              </a:rPr>
              <a:t>Exercise is not just a body input.</a:t>
            </a:r>
          </a:p>
        </p:txBody>
      </p:sp>
      <p:sp>
        <p:nvSpPr>
          <p:cNvPr id="4" name="Rectangle 3"/>
          <p:cNvSpPr/>
          <p:nvPr/>
        </p:nvSpPr>
        <p:spPr>
          <a:xfrm>
            <a:off x="640080" y="1783080"/>
            <a:ext cx="640080" cy="457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128016" cy="3749039"/>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10515600" cy="960120"/>
          </a:xfrm>
          <a:prstGeom prst="rect">
            <a:avLst/>
          </a:prstGeom>
          <a:noFill/>
        </p:spPr>
        <p:txBody>
          <a:bodyPr wrap="square" lIns="0" rIns="0" tIns="0" bIns="0" anchor="t">
            <a:spAutoFit/>
          </a:bodyPr>
          <a:lstStyle/>
          <a:p>
            <a:pPr algn="l">
              <a:lnSpc>
                <a:spcPct val="130000"/>
              </a:lnSpc>
            </a:pPr>
            <a:r>
              <a:rPr sz="2200" b="0" i="1">
                <a:solidFill>
                  <a:srgbClr val="0F1B36"/>
                </a:solidFill>
                <a:latin typeface="Georgia"/>
              </a:rPr>
              <a:t>Aerobic exercise releases BDNF (brain-derived neurotrophic factor), which is essentially fertilizer for neurons.</a:t>
            </a:r>
          </a:p>
        </p:txBody>
      </p:sp>
      <p:sp>
        <p:nvSpPr>
          <p:cNvPr id="7" name="TextBox 6"/>
          <p:cNvSpPr txBox="1"/>
          <p:nvPr/>
        </p:nvSpPr>
        <p:spPr>
          <a:xfrm>
            <a:off x="1005840" y="3337560"/>
            <a:ext cx="10515600" cy="2286000"/>
          </a:xfrm>
          <a:prstGeom prst="rect">
            <a:avLst/>
          </a:prstGeom>
          <a:noFill/>
        </p:spPr>
        <p:txBody>
          <a:bodyPr wrap="square" lIns="0" rIns="0" tIns="0" bIns="0" anchor="t">
            <a:spAutoFit/>
          </a:bodyPr>
          <a:lstStyle/>
          <a:p>
            <a:pPr algn="l">
              <a:lnSpc>
                <a:spcPct val="150000"/>
              </a:lnSpc>
            </a:pPr>
            <a:r>
              <a:rPr sz="1400" b="0" i="0">
                <a:solidFill>
                  <a:srgbClr val="1B2436"/>
                </a:solidFill>
                <a:latin typeface="Calibri"/>
              </a:rPr>
              <a:t>Regular cardio measurably improves focus, learning, and mood. In some trials, with effect sizes that rival the lower doses of antidepressants prescribed for the same indications. The "I went for a run and the whole day got better" effect is not vibes. It is neurochemistry, with paperwork. Physical → Mental → Emotional, in that order, within an hour.</a:t>
            </a:r>
          </a:p>
        </p:txBody>
      </p:sp>
      <p:sp>
        <p:nvSpPr>
          <p:cNvPr id="8" name="TextBox 7"/>
          <p:cNvSpPr txBox="1"/>
          <p:nvPr/>
        </p:nvSpPr>
        <p:spPr>
          <a:xfrm>
            <a:off x="1005840" y="5852160"/>
            <a:ext cx="10515600" cy="365760"/>
          </a:xfrm>
          <a:prstGeom prst="rect">
            <a:avLst/>
          </a:prstGeom>
          <a:noFill/>
        </p:spPr>
        <p:txBody>
          <a:bodyPr wrap="square" lIns="0" rIns="0" tIns="0" bIns="0" anchor="t">
            <a:spAutoFit/>
          </a:bodyPr>
          <a:lstStyle/>
          <a:p>
            <a:pPr algn="l"/>
            <a:r>
              <a:rPr sz="1150" b="1" i="1" spc="100">
                <a:solidFill>
                  <a:srgbClr val="D4A24C"/>
                </a:solidFill>
                <a:latin typeface="Calibri"/>
              </a:rPr>
              <a:t>Ratey, J. (2008). Spark: The Revolutionary New Science of Exercise and the Brain. Little, Brown.</a:t>
            </a:r>
          </a:p>
        </p:txBody>
      </p:sp>
      <p:sp>
        <p:nvSpPr>
          <p:cNvPr id="9" name="TextBox 8"/>
          <p:cNvSpPr txBox="1"/>
          <p:nvPr/>
        </p:nvSpPr>
        <p:spPr>
          <a:xfrm>
            <a:off x="457200" y="6446520"/>
            <a:ext cx="1828800" cy="274320"/>
          </a:xfrm>
          <a:prstGeom prst="rect">
            <a:avLst/>
          </a:prstGeom>
          <a:noFill/>
        </p:spPr>
        <p:txBody>
          <a:bodyPr wrap="square" lIns="0" rIns="0" tIns="0" bIns="0" anchor="t">
            <a:spAutoFit/>
          </a:bodyPr>
          <a:lstStyle/>
          <a:p>
            <a:pPr algn="l"/>
            <a:r>
              <a:rPr sz="900" b="0" i="1">
                <a:solidFill>
                  <a:srgbClr val="6B778B"/>
                </a:solidFill>
                <a:latin typeface="Calibri"/>
              </a:rPr>
              <a:t>12 · 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40080" y="502920"/>
            <a:ext cx="10972800" cy="365760"/>
          </a:xfrm>
          <a:prstGeom prst="rect">
            <a:avLst/>
          </a:prstGeom>
          <a:noFill/>
        </p:spPr>
        <p:txBody>
          <a:bodyPr wrap="square" lIns="0" rIns="0" tIns="0" bIns="0" anchor="t">
            <a:spAutoFit/>
          </a:bodyPr>
          <a:lstStyle/>
          <a:p>
            <a:pPr algn="l"/>
            <a:r>
              <a:rPr sz="1100" b="1" i="0" spc="250">
                <a:solidFill>
                  <a:srgbClr val="D4A24C"/>
                </a:solidFill>
                <a:latin typeface="Calibri"/>
              </a:rPr>
              <a:t>LOOP · 3 OF 5  ·  SOCIAL → PHYSICAL</a:t>
            </a:r>
          </a:p>
        </p:txBody>
      </p:sp>
      <p:sp>
        <p:nvSpPr>
          <p:cNvPr id="3" name="TextBox 2"/>
          <p:cNvSpPr txBox="1"/>
          <p:nvPr/>
        </p:nvSpPr>
        <p:spPr>
          <a:xfrm>
            <a:off x="640080" y="868680"/>
            <a:ext cx="10972800" cy="914400"/>
          </a:xfrm>
          <a:prstGeom prst="rect">
            <a:avLst/>
          </a:prstGeom>
          <a:noFill/>
        </p:spPr>
        <p:txBody>
          <a:bodyPr wrap="square" lIns="0" rIns="0" tIns="0" bIns="0" anchor="t">
            <a:spAutoFit/>
          </a:bodyPr>
          <a:lstStyle/>
          <a:p>
            <a:pPr algn="l"/>
            <a:r>
              <a:rPr sz="3400" b="1" i="0">
                <a:solidFill>
                  <a:srgbClr val="0F1B36"/>
                </a:solidFill>
                <a:latin typeface="Georgia"/>
              </a:rPr>
              <a:t>Loneliness is not just an emotional problem.</a:t>
            </a:r>
          </a:p>
        </p:txBody>
      </p:sp>
      <p:sp>
        <p:nvSpPr>
          <p:cNvPr id="4" name="Rectangle 3"/>
          <p:cNvSpPr/>
          <p:nvPr/>
        </p:nvSpPr>
        <p:spPr>
          <a:xfrm>
            <a:off x="640080" y="1783080"/>
            <a:ext cx="640080" cy="457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128016" cy="3749039"/>
          </a:xfrm>
          <a:prstGeom prst="rect">
            <a:avLst/>
          </a:prstGeom>
          <a:solidFill>
            <a:srgbClr val="5C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10515600" cy="960120"/>
          </a:xfrm>
          <a:prstGeom prst="rect">
            <a:avLst/>
          </a:prstGeom>
          <a:noFill/>
        </p:spPr>
        <p:txBody>
          <a:bodyPr wrap="square" lIns="0" rIns="0" tIns="0" bIns="0" anchor="t">
            <a:spAutoFit/>
          </a:bodyPr>
          <a:lstStyle/>
          <a:p>
            <a:pPr algn="l">
              <a:lnSpc>
                <a:spcPct val="130000"/>
              </a:lnSpc>
            </a:pPr>
            <a:r>
              <a:rPr sz="2200" b="0" i="1">
                <a:solidFill>
                  <a:srgbClr val="0F1B36"/>
                </a:solidFill>
                <a:latin typeface="Georgia"/>
              </a:rPr>
              <a:t>Weak social ties carry a mortality risk comparable to smoking up to fifteen cigarettes a day.</a:t>
            </a:r>
          </a:p>
        </p:txBody>
      </p:sp>
      <p:sp>
        <p:nvSpPr>
          <p:cNvPr id="7" name="TextBox 6"/>
          <p:cNvSpPr txBox="1"/>
          <p:nvPr/>
        </p:nvSpPr>
        <p:spPr>
          <a:xfrm>
            <a:off x="1005840" y="3337560"/>
            <a:ext cx="10515600" cy="2286000"/>
          </a:xfrm>
          <a:prstGeom prst="rect">
            <a:avLst/>
          </a:prstGeom>
          <a:noFill/>
        </p:spPr>
        <p:txBody>
          <a:bodyPr wrap="square" lIns="0" rIns="0" tIns="0" bIns="0" anchor="t">
            <a:spAutoFit/>
          </a:bodyPr>
          <a:lstStyle/>
          <a:p>
            <a:pPr algn="l">
              <a:lnSpc>
                <a:spcPct val="150000"/>
              </a:lnSpc>
            </a:pPr>
            <a:r>
              <a:rPr sz="1400" b="0" i="0">
                <a:solidFill>
                  <a:srgbClr val="1B2436"/>
                </a:solidFill>
                <a:latin typeface="Calibri"/>
              </a:rPr>
              <a:t>Holt-Lunstad's 2010 meta-analysis pooled 148 studies and ~300,000 participants. The effect of social disconnection on mortality is larger than obesity, larger than physical inactivity. The 2023 U.S. Surgeon General's advisory on loneliness was built on that finding. The Social dimension is, in plainly measurable terms, also a Physical risk factor.</a:t>
            </a:r>
          </a:p>
        </p:txBody>
      </p:sp>
      <p:sp>
        <p:nvSpPr>
          <p:cNvPr id="8" name="TextBox 7"/>
          <p:cNvSpPr txBox="1"/>
          <p:nvPr/>
        </p:nvSpPr>
        <p:spPr>
          <a:xfrm>
            <a:off x="1005840" y="5852160"/>
            <a:ext cx="10515600" cy="365760"/>
          </a:xfrm>
          <a:prstGeom prst="rect">
            <a:avLst/>
          </a:prstGeom>
          <a:noFill/>
        </p:spPr>
        <p:txBody>
          <a:bodyPr wrap="square" lIns="0" rIns="0" tIns="0" bIns="0" anchor="t">
            <a:spAutoFit/>
          </a:bodyPr>
          <a:lstStyle/>
          <a:p>
            <a:pPr algn="l"/>
            <a:r>
              <a:rPr sz="1150" b="1" i="1" spc="100">
                <a:solidFill>
                  <a:srgbClr val="5C8C7F"/>
                </a:solidFill>
                <a:latin typeface="Calibri"/>
              </a:rPr>
              <a:t>Holt-Lunstad, Smith &amp; Layton (2010), PLOS Medicine 7(7).   U.S. Surgeon General Advisory (2023).</a:t>
            </a:r>
          </a:p>
        </p:txBody>
      </p:sp>
      <p:sp>
        <p:nvSpPr>
          <p:cNvPr id="9" name="TextBox 8"/>
          <p:cNvSpPr txBox="1"/>
          <p:nvPr/>
        </p:nvSpPr>
        <p:spPr>
          <a:xfrm>
            <a:off x="457200" y="6446520"/>
            <a:ext cx="1828800" cy="274320"/>
          </a:xfrm>
          <a:prstGeom prst="rect">
            <a:avLst/>
          </a:prstGeom>
          <a:noFill/>
        </p:spPr>
        <p:txBody>
          <a:bodyPr wrap="square" lIns="0" rIns="0" tIns="0" bIns="0" anchor="t">
            <a:spAutoFit/>
          </a:bodyPr>
          <a:lstStyle/>
          <a:p>
            <a:pPr algn="l"/>
            <a:r>
              <a:rPr sz="900" b="0" i="1">
                <a:solidFill>
                  <a:srgbClr val="6B778B"/>
                </a:solidFill>
                <a:latin typeface="Calibri"/>
              </a:rPr>
              <a:t>13 ·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40080" y="502920"/>
            <a:ext cx="10972800" cy="365760"/>
          </a:xfrm>
          <a:prstGeom prst="rect">
            <a:avLst/>
          </a:prstGeom>
          <a:noFill/>
        </p:spPr>
        <p:txBody>
          <a:bodyPr wrap="square" lIns="0" rIns="0" tIns="0" bIns="0" anchor="t">
            <a:spAutoFit/>
          </a:bodyPr>
          <a:lstStyle/>
          <a:p>
            <a:pPr algn="l"/>
            <a:r>
              <a:rPr sz="1100" b="1" i="0" spc="250">
                <a:solidFill>
                  <a:srgbClr val="D4A24C"/>
                </a:solidFill>
                <a:latin typeface="Calibri"/>
              </a:rPr>
              <a:t>LOOP · 4 OF 5  ·  SPIRITUAL → SOCIAL → PHYSICAL</a:t>
            </a:r>
          </a:p>
        </p:txBody>
      </p:sp>
      <p:sp>
        <p:nvSpPr>
          <p:cNvPr id="3" name="TextBox 2"/>
          <p:cNvSpPr txBox="1"/>
          <p:nvPr/>
        </p:nvSpPr>
        <p:spPr>
          <a:xfrm>
            <a:off x="640080" y="868680"/>
            <a:ext cx="10972800" cy="914400"/>
          </a:xfrm>
          <a:prstGeom prst="rect">
            <a:avLst/>
          </a:prstGeom>
          <a:noFill/>
        </p:spPr>
        <p:txBody>
          <a:bodyPr wrap="square" lIns="0" rIns="0" tIns="0" bIns="0" anchor="t">
            <a:spAutoFit/>
          </a:bodyPr>
          <a:lstStyle/>
          <a:p>
            <a:pPr algn="l"/>
            <a:r>
              <a:rPr sz="3400" b="1" i="0">
                <a:solidFill>
                  <a:srgbClr val="0F1B36"/>
                </a:solidFill>
                <a:latin typeface="Georgia"/>
              </a:rPr>
              <a:t>Purpose is not a spiritual nice-to-have.</a:t>
            </a:r>
          </a:p>
        </p:txBody>
      </p:sp>
      <p:sp>
        <p:nvSpPr>
          <p:cNvPr id="4" name="Rectangle 3"/>
          <p:cNvSpPr/>
          <p:nvPr/>
        </p:nvSpPr>
        <p:spPr>
          <a:xfrm>
            <a:off x="640080" y="1783080"/>
            <a:ext cx="640080" cy="457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128016" cy="3749039"/>
          </a:xfrm>
          <a:prstGeom prst="rect">
            <a:avLst/>
          </a:prstGeom>
          <a:solidFill>
            <a:srgbClr val="0F1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10515600" cy="960120"/>
          </a:xfrm>
          <a:prstGeom prst="rect">
            <a:avLst/>
          </a:prstGeom>
          <a:noFill/>
        </p:spPr>
        <p:txBody>
          <a:bodyPr wrap="square" lIns="0" rIns="0" tIns="0" bIns="0" anchor="t">
            <a:spAutoFit/>
          </a:bodyPr>
          <a:lstStyle/>
          <a:p>
            <a:pPr algn="l">
              <a:lnSpc>
                <a:spcPct val="130000"/>
              </a:lnSpc>
            </a:pPr>
            <a:r>
              <a:rPr sz="2200" b="0" i="1">
                <a:solidFill>
                  <a:srgbClr val="0F1B36"/>
                </a:solidFill>
                <a:latin typeface="Georgia"/>
              </a:rPr>
              <a:t>Adults with a stronger sense of purpose in life were less likely to die during a 14-year follow-up, at every age.</a:t>
            </a:r>
          </a:p>
        </p:txBody>
      </p:sp>
      <p:sp>
        <p:nvSpPr>
          <p:cNvPr id="7" name="TextBox 6"/>
          <p:cNvSpPr txBox="1"/>
          <p:nvPr/>
        </p:nvSpPr>
        <p:spPr>
          <a:xfrm>
            <a:off x="1005840" y="3337560"/>
            <a:ext cx="10515600" cy="2286000"/>
          </a:xfrm>
          <a:prstGeom prst="rect">
            <a:avLst/>
          </a:prstGeom>
          <a:noFill/>
        </p:spPr>
        <p:txBody>
          <a:bodyPr wrap="square" lIns="0" rIns="0" tIns="0" bIns="0" anchor="t">
            <a:spAutoFit/>
          </a:bodyPr>
          <a:lstStyle/>
          <a:p>
            <a:pPr algn="l">
              <a:lnSpc>
                <a:spcPct val="150000"/>
              </a:lnSpc>
            </a:pPr>
            <a:r>
              <a:rPr sz="1400" b="0" i="0">
                <a:solidFill>
                  <a:srgbClr val="1B2436"/>
                </a:solidFill>
                <a:latin typeface="Calibri"/>
              </a:rPr>
              <a:t>Hill &amp; Turiano (2014) followed ~6,000 adults; the effect held for young, middle-aged, and older participants alike, and persisted after controlling for other well-being measures. Independently, the Harvard Study of Adult Development (now 85+ years, Waldinger PI) found that relationship satisfaction at age 50 predicts physical health at age 80 better than cholesterol does.</a:t>
            </a:r>
          </a:p>
        </p:txBody>
      </p:sp>
      <p:sp>
        <p:nvSpPr>
          <p:cNvPr id="8" name="TextBox 7"/>
          <p:cNvSpPr txBox="1"/>
          <p:nvPr/>
        </p:nvSpPr>
        <p:spPr>
          <a:xfrm>
            <a:off x="1005840" y="5852160"/>
            <a:ext cx="10515600" cy="365760"/>
          </a:xfrm>
          <a:prstGeom prst="rect">
            <a:avLst/>
          </a:prstGeom>
          <a:noFill/>
        </p:spPr>
        <p:txBody>
          <a:bodyPr wrap="square" lIns="0" rIns="0" tIns="0" bIns="0" anchor="t">
            <a:spAutoFit/>
          </a:bodyPr>
          <a:lstStyle/>
          <a:p>
            <a:pPr algn="l"/>
            <a:r>
              <a:rPr sz="1150" b="1" i="1" spc="100">
                <a:solidFill>
                  <a:srgbClr val="0F1B36"/>
                </a:solidFill>
                <a:latin typeface="Calibri"/>
              </a:rPr>
              <a:t>Hill &amp; Turiano (2014), Psychological Science 25(7).   Waldinger &amp; Schulz (2023), The Good Life.</a:t>
            </a:r>
          </a:p>
        </p:txBody>
      </p:sp>
      <p:sp>
        <p:nvSpPr>
          <p:cNvPr id="9" name="TextBox 8"/>
          <p:cNvSpPr txBox="1"/>
          <p:nvPr/>
        </p:nvSpPr>
        <p:spPr>
          <a:xfrm>
            <a:off x="457200" y="6446520"/>
            <a:ext cx="1828800" cy="274320"/>
          </a:xfrm>
          <a:prstGeom prst="rect">
            <a:avLst/>
          </a:prstGeom>
          <a:noFill/>
        </p:spPr>
        <p:txBody>
          <a:bodyPr wrap="square" lIns="0" rIns="0" tIns="0" bIns="0" anchor="t">
            <a:spAutoFit/>
          </a:bodyPr>
          <a:lstStyle/>
          <a:p>
            <a:pPr algn="l"/>
            <a:r>
              <a:rPr sz="900" b="0" i="1">
                <a:solidFill>
                  <a:srgbClr val="6B778B"/>
                </a:solidFill>
                <a:latin typeface="Calibri"/>
              </a:rPr>
              <a:t>14 · 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40080" y="502920"/>
            <a:ext cx="10972800" cy="365760"/>
          </a:xfrm>
          <a:prstGeom prst="rect">
            <a:avLst/>
          </a:prstGeom>
          <a:noFill/>
        </p:spPr>
        <p:txBody>
          <a:bodyPr wrap="square" lIns="0" rIns="0" tIns="0" bIns="0" anchor="t">
            <a:spAutoFit/>
          </a:bodyPr>
          <a:lstStyle/>
          <a:p>
            <a:pPr algn="l"/>
            <a:r>
              <a:rPr sz="1100" b="1" i="0" spc="250">
                <a:solidFill>
                  <a:srgbClr val="D4A24C"/>
                </a:solidFill>
                <a:latin typeface="Calibri"/>
              </a:rPr>
              <a:t>LOOP · 5 OF 5  ·  EMOTIONAL ⇄ PHYSICAL</a:t>
            </a:r>
          </a:p>
        </p:txBody>
      </p:sp>
      <p:sp>
        <p:nvSpPr>
          <p:cNvPr id="3" name="TextBox 2"/>
          <p:cNvSpPr txBox="1"/>
          <p:nvPr/>
        </p:nvSpPr>
        <p:spPr>
          <a:xfrm>
            <a:off x="640080" y="868680"/>
            <a:ext cx="10972800" cy="914400"/>
          </a:xfrm>
          <a:prstGeom prst="rect">
            <a:avLst/>
          </a:prstGeom>
          <a:noFill/>
        </p:spPr>
        <p:txBody>
          <a:bodyPr wrap="square" lIns="0" rIns="0" tIns="0" bIns="0" anchor="t">
            <a:spAutoFit/>
          </a:bodyPr>
          <a:lstStyle/>
          <a:p>
            <a:pPr algn="l"/>
            <a:r>
              <a:rPr sz="3400" b="1" i="0">
                <a:solidFill>
                  <a:srgbClr val="0F1B36"/>
                </a:solidFill>
                <a:latin typeface="Georgia"/>
              </a:rPr>
              <a:t>The body keeps the score.</a:t>
            </a:r>
          </a:p>
        </p:txBody>
      </p:sp>
      <p:sp>
        <p:nvSpPr>
          <p:cNvPr id="4" name="Rectangle 3"/>
          <p:cNvSpPr/>
          <p:nvPr/>
        </p:nvSpPr>
        <p:spPr>
          <a:xfrm>
            <a:off x="640080" y="1783080"/>
            <a:ext cx="640080" cy="457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128016" cy="3749039"/>
          </a:xfrm>
          <a:prstGeom prst="rect">
            <a:avLst/>
          </a:prstGeom>
          <a:solidFill>
            <a:srgbClr val="C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10515600" cy="960120"/>
          </a:xfrm>
          <a:prstGeom prst="rect">
            <a:avLst/>
          </a:prstGeom>
          <a:noFill/>
        </p:spPr>
        <p:txBody>
          <a:bodyPr wrap="square" lIns="0" rIns="0" tIns="0" bIns="0" anchor="t">
            <a:spAutoFit/>
          </a:bodyPr>
          <a:lstStyle/>
          <a:p>
            <a:pPr algn="l">
              <a:lnSpc>
                <a:spcPct val="130000"/>
              </a:lnSpc>
            </a:pPr>
            <a:r>
              <a:rPr sz="2200" b="0" i="1">
                <a:solidFill>
                  <a:srgbClr val="0F1B36"/>
                </a:solidFill>
                <a:latin typeface="Georgia"/>
              </a:rPr>
              <a:t>Emotional injuries leave physical traces: in posture, immune function, sleep architecture, chronic pain.</a:t>
            </a:r>
          </a:p>
        </p:txBody>
      </p:sp>
      <p:sp>
        <p:nvSpPr>
          <p:cNvPr id="7" name="TextBox 6"/>
          <p:cNvSpPr txBox="1"/>
          <p:nvPr/>
        </p:nvSpPr>
        <p:spPr>
          <a:xfrm>
            <a:off x="1005840" y="3337560"/>
            <a:ext cx="10515600" cy="2286000"/>
          </a:xfrm>
          <a:prstGeom prst="rect">
            <a:avLst/>
          </a:prstGeom>
          <a:noFill/>
        </p:spPr>
        <p:txBody>
          <a:bodyPr wrap="square" lIns="0" rIns="0" tIns="0" bIns="0" anchor="t">
            <a:spAutoFit/>
          </a:bodyPr>
          <a:lstStyle/>
          <a:p>
            <a:pPr algn="l">
              <a:lnSpc>
                <a:spcPct val="150000"/>
              </a:lnSpc>
            </a:pPr>
            <a:r>
              <a:rPr sz="1400" b="0" i="0">
                <a:solidFill>
                  <a:srgbClr val="1B2436"/>
                </a:solidFill>
                <a:latin typeface="Calibri"/>
              </a:rPr>
              <a:t>Van der Kolk's three decades of trauma research showed that healing often requires going through the body, not around it. The reverse is also true: chronic physical conditions tax mental and emotional capacity, narrow social bandwidth, and erode the sense of why-this-matters. Every dimension speaks the others' language eventually. The system is honest in the long run.</a:t>
            </a:r>
          </a:p>
        </p:txBody>
      </p:sp>
      <p:sp>
        <p:nvSpPr>
          <p:cNvPr id="8" name="TextBox 7"/>
          <p:cNvSpPr txBox="1"/>
          <p:nvPr/>
        </p:nvSpPr>
        <p:spPr>
          <a:xfrm>
            <a:off x="1005840" y="5852160"/>
            <a:ext cx="10515600" cy="365760"/>
          </a:xfrm>
          <a:prstGeom prst="rect">
            <a:avLst/>
          </a:prstGeom>
          <a:noFill/>
        </p:spPr>
        <p:txBody>
          <a:bodyPr wrap="square" lIns="0" rIns="0" tIns="0" bIns="0" anchor="t">
            <a:spAutoFit/>
          </a:bodyPr>
          <a:lstStyle/>
          <a:p>
            <a:pPr algn="l"/>
            <a:r>
              <a:rPr sz="1150" b="1" i="1" spc="100">
                <a:solidFill>
                  <a:srgbClr val="C97757"/>
                </a:solidFill>
                <a:latin typeface="Calibri"/>
              </a:rPr>
              <a:t>van der Kolk, B. (2014). The Body Keeps the Score. Viking.</a:t>
            </a:r>
          </a:p>
        </p:txBody>
      </p:sp>
      <p:sp>
        <p:nvSpPr>
          <p:cNvPr id="9" name="TextBox 8"/>
          <p:cNvSpPr txBox="1"/>
          <p:nvPr/>
        </p:nvSpPr>
        <p:spPr>
          <a:xfrm>
            <a:off x="457200" y="6446520"/>
            <a:ext cx="1828800" cy="274320"/>
          </a:xfrm>
          <a:prstGeom prst="rect">
            <a:avLst/>
          </a:prstGeom>
          <a:noFill/>
        </p:spPr>
        <p:txBody>
          <a:bodyPr wrap="square" lIns="0" rIns="0" tIns="0" bIns="0" anchor="t">
            <a:spAutoFit/>
          </a:bodyPr>
          <a:lstStyle/>
          <a:p>
            <a:pPr algn="l"/>
            <a:r>
              <a:rPr sz="900" b="0" i="1">
                <a:solidFill>
                  <a:srgbClr val="6B778B"/>
                </a:solidFill>
                <a:latin typeface="Calibri"/>
              </a:rPr>
              <a:t>15 ·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40080" y="502920"/>
            <a:ext cx="10972800" cy="365760"/>
          </a:xfrm>
          <a:prstGeom prst="rect">
            <a:avLst/>
          </a:prstGeom>
          <a:noFill/>
        </p:spPr>
        <p:txBody>
          <a:bodyPr wrap="square" lIns="0" rIns="0" tIns="0" bIns="0" anchor="t">
            <a:spAutoFit/>
          </a:bodyPr>
          <a:lstStyle/>
          <a:p>
            <a:pPr algn="l"/>
            <a:r>
              <a:rPr sz="1100" b="1" i="0" spc="250">
                <a:solidFill>
                  <a:srgbClr val="D4A24C"/>
                </a:solidFill>
                <a:latin typeface="Calibri"/>
              </a:rPr>
              <a:t>WHY ONE-AXIS SELF-HELP FAILS</a:t>
            </a:r>
          </a:p>
        </p:txBody>
      </p:sp>
      <p:sp>
        <p:nvSpPr>
          <p:cNvPr id="3" name="TextBox 2"/>
          <p:cNvSpPr txBox="1"/>
          <p:nvPr/>
        </p:nvSpPr>
        <p:spPr>
          <a:xfrm>
            <a:off x="640080" y="868680"/>
            <a:ext cx="10972800" cy="914400"/>
          </a:xfrm>
          <a:prstGeom prst="rect">
            <a:avLst/>
          </a:prstGeom>
          <a:noFill/>
        </p:spPr>
        <p:txBody>
          <a:bodyPr wrap="square" lIns="0" rIns="0" tIns="0" bIns="0" anchor="t">
            <a:spAutoFit/>
          </a:bodyPr>
          <a:lstStyle/>
          <a:p>
            <a:pPr algn="l"/>
            <a:r>
              <a:rPr sz="3000" b="1" i="0">
                <a:solidFill>
                  <a:srgbClr val="0F1B36"/>
                </a:solidFill>
                <a:latin typeface="Georgia"/>
              </a:rPr>
              <a:t>The change holds when two dimensions help carry it.</a:t>
            </a:r>
          </a:p>
        </p:txBody>
      </p:sp>
      <p:sp>
        <p:nvSpPr>
          <p:cNvPr id="4" name="Rectangle 3"/>
          <p:cNvSpPr/>
          <p:nvPr/>
        </p:nvSpPr>
        <p:spPr>
          <a:xfrm>
            <a:off x="640080" y="1828800"/>
            <a:ext cx="640080" cy="457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103120"/>
            <a:ext cx="10972800" cy="2286000"/>
          </a:xfrm>
          <a:prstGeom prst="rect">
            <a:avLst/>
          </a:prstGeom>
          <a:noFill/>
        </p:spPr>
        <p:txBody>
          <a:bodyPr wrap="square" lIns="0" rIns="0" tIns="0" bIns="0" anchor="t">
            <a:spAutoFit/>
          </a:bodyPr>
          <a:lstStyle/>
          <a:p>
            <a:pPr algn="l">
              <a:lnSpc>
                <a:spcPct val="145000"/>
              </a:lnSpc>
            </a:pPr>
            <a:r>
              <a:rPr sz="1600" b="0" i="0">
                <a:solidFill>
                  <a:srgbClr val="1B2436"/>
                </a:solidFill>
                <a:latin typeface="Georgia"/>
              </a:rPr>
              <a:t>A book about exercise is almost always also a book about mood, focus, and sleep; it just doesn't say so.</a:t>
            </a:r>
          </a:p>
          <a:p>
            <a:pPr algn="l">
              <a:lnSpc>
                <a:spcPct val="145000"/>
              </a:lnSpc>
            </a:pPr>
            <a:r>
              <a:rPr sz="1600" b="0" i="0">
                <a:solidFill>
                  <a:srgbClr val="1B2436"/>
                </a:solidFill>
                <a:latin typeface="Georgia"/>
              </a:rPr>
              <a:t>A book about Stoicism is almost always also about social regulation, recovery, and sleep; it just doesn't say so either.</a:t>
            </a:r>
          </a:p>
          <a:p>
            <a:pPr algn="l">
              <a:lnSpc>
                <a:spcPct val="145000"/>
              </a:lnSpc>
            </a:pPr>
            <a:r>
              <a:rPr sz="1600" b="0" i="0">
                <a:solidFill>
                  <a:srgbClr val="1B2436"/>
                </a:solidFill>
                <a:latin typeface="Georgia"/>
              </a:rPr>
              <a:t/>
            </a:r>
          </a:p>
          <a:p>
            <a:pPr algn="l">
              <a:lnSpc>
                <a:spcPct val="145000"/>
              </a:lnSpc>
            </a:pPr>
            <a:r>
              <a:rPr sz="1600" b="0" i="0">
                <a:solidFill>
                  <a:srgbClr val="1B2436"/>
                </a:solidFill>
                <a:latin typeface="Georgia"/>
              </a:rPr>
              <a:t>When you read the book and try to make a change on the single axis it discusses, you usually fail not because the advice is bad but because the other four axes don't know about the project.</a:t>
            </a:r>
          </a:p>
        </p:txBody>
      </p:sp>
      <p:sp>
        <p:nvSpPr>
          <p:cNvPr id="6" name="Rectangle 5"/>
          <p:cNvSpPr/>
          <p:nvPr/>
        </p:nvSpPr>
        <p:spPr>
          <a:xfrm>
            <a:off x="640080" y="5349240"/>
            <a:ext cx="10972800" cy="1097280"/>
          </a:xfrm>
          <a:prstGeom prst="rect">
            <a:avLst/>
          </a:prstGeom>
          <a:solidFill>
            <a:srgbClr val="0F1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440680"/>
            <a:ext cx="10515600" cy="960120"/>
          </a:xfrm>
          <a:prstGeom prst="rect">
            <a:avLst/>
          </a:prstGeom>
          <a:noFill/>
        </p:spPr>
        <p:txBody>
          <a:bodyPr wrap="square" lIns="0" rIns="0" tIns="0" bIns="0" anchor="ctr">
            <a:spAutoFit/>
          </a:bodyPr>
          <a:lstStyle/>
          <a:p>
            <a:pPr algn="ctr">
              <a:lnSpc>
                <a:spcPct val="135000"/>
              </a:lnSpc>
            </a:pPr>
            <a:r>
              <a:rPr sz="1800" b="0" i="1">
                <a:solidFill>
                  <a:srgbClr val="FBF8F1"/>
                </a:solidFill>
                <a:latin typeface="Georgia"/>
              </a:rPr>
              <a:t>"Willpower" is one dimension trying to do all five jobs.</a:t>
            </a:r>
          </a:p>
          <a:p>
            <a:pPr algn="ctr">
              <a:lnSpc>
                <a:spcPct val="135000"/>
              </a:lnSpc>
            </a:pPr>
            <a:r>
              <a:rPr sz="1800" b="0" i="1">
                <a:solidFill>
                  <a:srgbClr val="FBF8F1"/>
                </a:solidFill>
                <a:latin typeface="Georgia"/>
              </a:rPr>
              <a:t>One dimension can't.</a:t>
            </a:r>
          </a:p>
        </p:txBody>
      </p:sp>
      <p:sp>
        <p:nvSpPr>
          <p:cNvPr id="8" name="TextBox 7"/>
          <p:cNvSpPr txBox="1"/>
          <p:nvPr/>
        </p:nvSpPr>
        <p:spPr>
          <a:xfrm>
            <a:off x="457200" y="6446520"/>
            <a:ext cx="1828800" cy="274320"/>
          </a:xfrm>
          <a:prstGeom prst="rect">
            <a:avLst/>
          </a:prstGeom>
          <a:noFill/>
        </p:spPr>
        <p:txBody>
          <a:bodyPr wrap="square" lIns="0" rIns="0" tIns="0" bIns="0" anchor="t">
            <a:spAutoFit/>
          </a:bodyPr>
          <a:lstStyle/>
          <a:p>
            <a:pPr algn="l"/>
            <a:r>
              <a:rPr sz="900" b="0" i="1">
                <a:solidFill>
                  <a:srgbClr val="6B778B"/>
                </a:solidFill>
                <a:latin typeface="Calibri"/>
              </a:rPr>
              <a:t>16 · 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B36"/>
        </a:solidFill>
        <a:effectLst/>
      </p:bgPr>
    </p:bg>
    <p:spTree>
      <p:nvGrpSpPr>
        <p:cNvPr id="1" name=""/>
        <p:cNvGrpSpPr/>
        <p:nvPr/>
      </p:nvGrpSpPr>
      <p:grpSpPr/>
      <p:sp>
        <p:nvSpPr>
          <p:cNvPr id="2" name="TextBox 1"/>
          <p:cNvSpPr txBox="1"/>
          <p:nvPr/>
        </p:nvSpPr>
        <p:spPr>
          <a:xfrm>
            <a:off x="11521440" y="320040"/>
            <a:ext cx="457200" cy="411480"/>
          </a:xfrm>
          <a:prstGeom prst="rect">
            <a:avLst/>
          </a:prstGeom>
          <a:noFill/>
        </p:spPr>
        <p:txBody>
          <a:bodyPr wrap="square" lIns="0" rIns="0" tIns="0" bIns="0" anchor="t">
            <a:spAutoFit/>
          </a:bodyPr>
          <a:lstStyle/>
          <a:p>
            <a:pPr algn="l"/>
            <a:r>
              <a:rPr sz="1800" b="0" i="0">
                <a:solidFill>
                  <a:srgbClr val="D4A24C"/>
                </a:solidFill>
                <a:latin typeface="Georgia"/>
              </a:rPr>
              <a:t>✦</a:t>
            </a:r>
          </a:p>
        </p:txBody>
      </p:sp>
      <p:sp>
        <p:nvSpPr>
          <p:cNvPr id="3" name="TextBox 2"/>
          <p:cNvSpPr txBox="1"/>
          <p:nvPr/>
        </p:nvSpPr>
        <p:spPr>
          <a:xfrm>
            <a:off x="640080" y="502920"/>
            <a:ext cx="10972800" cy="365760"/>
          </a:xfrm>
          <a:prstGeom prst="rect">
            <a:avLst/>
          </a:prstGeom>
          <a:noFill/>
        </p:spPr>
        <p:txBody>
          <a:bodyPr wrap="square" lIns="0" rIns="0" tIns="0" bIns="0" anchor="t">
            <a:spAutoFit/>
          </a:bodyPr>
          <a:lstStyle/>
          <a:p>
            <a:pPr algn="l"/>
            <a:r>
              <a:rPr sz="1100" b="1" i="0" spc="250">
                <a:solidFill>
                  <a:srgbClr val="D4A24C"/>
                </a:solidFill>
                <a:latin typeface="Calibri"/>
              </a:rPr>
              <a:t>THE REVEAL</a:t>
            </a:r>
          </a:p>
        </p:txBody>
      </p:sp>
      <p:sp>
        <p:nvSpPr>
          <p:cNvPr id="4" name="TextBox 3"/>
          <p:cNvSpPr txBox="1"/>
          <p:nvPr/>
        </p:nvSpPr>
        <p:spPr>
          <a:xfrm>
            <a:off x="640080" y="868680"/>
            <a:ext cx="10972800" cy="914400"/>
          </a:xfrm>
          <a:prstGeom prst="rect">
            <a:avLst/>
          </a:prstGeom>
          <a:noFill/>
        </p:spPr>
        <p:txBody>
          <a:bodyPr wrap="square" lIns="0" rIns="0" tIns="0" bIns="0" anchor="t">
            <a:spAutoFit/>
          </a:bodyPr>
          <a:lstStyle/>
          <a:p>
            <a:pPr algn="l"/>
            <a:r>
              <a:rPr sz="4600" b="1" i="0">
                <a:solidFill>
                  <a:srgbClr val="FBF8F1"/>
                </a:solidFill>
                <a:latin typeface="Georgia"/>
              </a:rPr>
              <a:t>Bob is a shape.</a:t>
            </a:r>
          </a:p>
        </p:txBody>
      </p:sp>
      <p:pic>
        <p:nvPicPr>
          <p:cNvPr id="5" name="Picture 4" descr="_bob_radar.png"/>
          <p:cNvPicPr>
            <a:picLocks noChangeAspect="1"/>
          </p:cNvPicPr>
          <p:nvPr/>
        </p:nvPicPr>
        <p:blipFill>
          <a:blip r:embed="rId2"/>
          <a:stretch>
            <a:fillRect/>
          </a:stretch>
        </p:blipFill>
        <p:spPr>
          <a:xfrm>
            <a:off x="365760" y="1920240"/>
            <a:ext cx="5321808" cy="4434840"/>
          </a:xfrm>
          <a:prstGeom prst="rect">
            <a:avLst/>
          </a:prstGeom>
        </p:spPr>
      </p:pic>
      <p:sp>
        <p:nvSpPr>
          <p:cNvPr id="6" name="TextBox 5"/>
          <p:cNvSpPr txBox="1"/>
          <p:nvPr/>
        </p:nvSpPr>
        <p:spPr>
          <a:xfrm>
            <a:off x="6583680" y="2011680"/>
            <a:ext cx="5349240" cy="777240"/>
          </a:xfrm>
          <a:prstGeom prst="rect">
            <a:avLst/>
          </a:prstGeom>
          <a:noFill/>
        </p:spPr>
        <p:txBody>
          <a:bodyPr wrap="square" lIns="0" rIns="0" tIns="0" bIns="0" anchor="t">
            <a:spAutoFit/>
          </a:bodyPr>
          <a:lstStyle/>
          <a:p>
            <a:pPr algn="l">
              <a:lnSpc>
                <a:spcPct val="135000"/>
              </a:lnSpc>
            </a:pPr>
            <a:r>
              <a:rPr sz="1600" b="0" i="1">
                <a:solidFill>
                  <a:srgbClr val="FBF8F1"/>
                </a:solidFill>
                <a:latin typeface="Georgia"/>
              </a:rPr>
              <a:t>Five points: Physical, Mental, Emotional, Social, Spiritual.</a:t>
            </a:r>
          </a:p>
        </p:txBody>
      </p:sp>
      <p:sp>
        <p:nvSpPr>
          <p:cNvPr id="7" name="TextBox 6"/>
          <p:cNvSpPr txBox="1"/>
          <p:nvPr/>
        </p:nvSpPr>
        <p:spPr>
          <a:xfrm>
            <a:off x="6583680" y="2834640"/>
            <a:ext cx="5349240" cy="1371600"/>
          </a:xfrm>
          <a:prstGeom prst="rect">
            <a:avLst/>
          </a:prstGeom>
          <a:noFill/>
        </p:spPr>
        <p:txBody>
          <a:bodyPr wrap="square" lIns="0" rIns="0" tIns="0" bIns="0" anchor="t">
            <a:spAutoFit/>
          </a:bodyPr>
          <a:lstStyle/>
          <a:p>
            <a:pPr algn="l">
              <a:lnSpc>
                <a:spcPct val="150000"/>
              </a:lnSpc>
            </a:pPr>
            <a:r>
              <a:rPr sz="1400" b="0" i="0">
                <a:solidFill>
                  <a:srgbClr val="FBF8F1"/>
                </a:solidFill>
                <a:latin typeface="Calibri"/>
              </a:rPr>
              <a:t>Each axis runs from 0 at the center to 10 at the edge. Score yourself today, with the honesty you'd only give to yourself or your doctor. Connect the dots.</a:t>
            </a:r>
          </a:p>
        </p:txBody>
      </p:sp>
      <p:sp>
        <p:nvSpPr>
          <p:cNvPr id="8" name="TextBox 7"/>
          <p:cNvSpPr txBox="1"/>
          <p:nvPr/>
        </p:nvSpPr>
        <p:spPr>
          <a:xfrm>
            <a:off x="6583680" y="4526280"/>
            <a:ext cx="5349240" cy="502920"/>
          </a:xfrm>
          <a:prstGeom prst="rect">
            <a:avLst/>
          </a:prstGeom>
          <a:noFill/>
        </p:spPr>
        <p:txBody>
          <a:bodyPr wrap="square" lIns="0" rIns="0" tIns="0" bIns="0" anchor="t">
            <a:spAutoFit/>
          </a:bodyPr>
          <a:lstStyle/>
          <a:p>
            <a:pPr algn="l"/>
            <a:r>
              <a:rPr sz="2400" b="1" i="1">
                <a:solidFill>
                  <a:srgbClr val="D4A24C"/>
                </a:solidFill>
                <a:latin typeface="Georgia"/>
              </a:rPr>
              <a:t>That shape is Bob.</a:t>
            </a:r>
          </a:p>
        </p:txBody>
      </p:sp>
      <p:sp>
        <p:nvSpPr>
          <p:cNvPr id="9" name="TextBox 8"/>
          <p:cNvSpPr txBox="1"/>
          <p:nvPr/>
        </p:nvSpPr>
        <p:spPr>
          <a:xfrm>
            <a:off x="6583680" y="5029200"/>
            <a:ext cx="5349240" cy="411480"/>
          </a:xfrm>
          <a:prstGeom prst="rect">
            <a:avLst/>
          </a:prstGeom>
          <a:noFill/>
        </p:spPr>
        <p:txBody>
          <a:bodyPr wrap="square" lIns="0" rIns="0" tIns="0" bIns="0" anchor="t">
            <a:spAutoFit/>
          </a:bodyPr>
          <a:lstStyle/>
          <a:p>
            <a:pPr algn="l"/>
            <a:r>
              <a:rPr sz="1800" b="0" i="1">
                <a:solidFill>
                  <a:srgbClr val="FBF8F1"/>
                </a:solidFill>
                <a:latin typeface="Georgia"/>
              </a:rPr>
              <a:t>Right now. Today.</a:t>
            </a:r>
          </a:p>
        </p:txBody>
      </p:sp>
      <p:sp>
        <p:nvSpPr>
          <p:cNvPr id="10" name="TextBox 9"/>
          <p:cNvSpPr txBox="1"/>
          <p:nvPr/>
        </p:nvSpPr>
        <p:spPr>
          <a:xfrm>
            <a:off x="6583680" y="5669280"/>
            <a:ext cx="5349240" cy="365760"/>
          </a:xfrm>
          <a:prstGeom prst="rect">
            <a:avLst/>
          </a:prstGeom>
          <a:noFill/>
        </p:spPr>
        <p:txBody>
          <a:bodyPr wrap="square" lIns="0" rIns="0" tIns="0" bIns="0" anchor="t">
            <a:spAutoFit/>
          </a:bodyPr>
          <a:lstStyle/>
          <a:p>
            <a:pPr algn="l"/>
            <a:r>
              <a:rPr sz="1200" b="0" i="1">
                <a:solidFill>
                  <a:srgbClr val="8D97AB"/>
                </a:solidFill>
                <a:latin typeface="Calibri"/>
              </a:rPr>
              <a:t>A perfect Bob is a regular pentagon. Nobody is that.</a:t>
            </a:r>
          </a:p>
        </p:txBody>
      </p:sp>
      <p:sp>
        <p:nvSpPr>
          <p:cNvPr id="11" name="TextBox 10"/>
          <p:cNvSpPr txBox="1"/>
          <p:nvPr/>
        </p:nvSpPr>
        <p:spPr>
          <a:xfrm>
            <a:off x="457200" y="6446520"/>
            <a:ext cx="1828800" cy="274320"/>
          </a:xfrm>
          <a:prstGeom prst="rect">
            <a:avLst/>
          </a:prstGeom>
          <a:noFill/>
        </p:spPr>
        <p:txBody>
          <a:bodyPr wrap="square" lIns="0" rIns="0" tIns="0" bIns="0" anchor="t">
            <a:spAutoFit/>
          </a:bodyPr>
          <a:lstStyle/>
          <a:p>
            <a:pPr algn="l"/>
            <a:r>
              <a:rPr sz="900" b="0" i="1">
                <a:solidFill>
                  <a:srgbClr val="8D97AB"/>
                </a:solidFill>
                <a:latin typeface="Calibri"/>
              </a:rPr>
              <a:t>17 ·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40080" y="502920"/>
            <a:ext cx="10972800" cy="365760"/>
          </a:xfrm>
          <a:prstGeom prst="rect">
            <a:avLst/>
          </a:prstGeom>
          <a:noFill/>
        </p:spPr>
        <p:txBody>
          <a:bodyPr wrap="square" lIns="0" rIns="0" tIns="0" bIns="0" anchor="t">
            <a:spAutoFit/>
          </a:bodyPr>
          <a:lstStyle/>
          <a:p>
            <a:pPr algn="l"/>
            <a:r>
              <a:rPr sz="1100" b="1" i="0" spc="250">
                <a:solidFill>
                  <a:srgbClr val="D4A24C"/>
                </a:solidFill>
                <a:latin typeface="Calibri"/>
              </a:rPr>
              <a:t>TWO QUESTIONS WORTH ASKING THE PICTURE</a:t>
            </a:r>
          </a:p>
        </p:txBody>
      </p:sp>
      <p:sp>
        <p:nvSpPr>
          <p:cNvPr id="3" name="TextBox 2"/>
          <p:cNvSpPr txBox="1"/>
          <p:nvPr/>
        </p:nvSpPr>
        <p:spPr>
          <a:xfrm>
            <a:off x="640080" y="868680"/>
            <a:ext cx="10972800" cy="914400"/>
          </a:xfrm>
          <a:prstGeom prst="rect">
            <a:avLst/>
          </a:prstGeom>
          <a:noFill/>
        </p:spPr>
        <p:txBody>
          <a:bodyPr wrap="square" lIns="0" rIns="0" tIns="0" bIns="0" anchor="t">
            <a:spAutoFit/>
          </a:bodyPr>
          <a:lstStyle/>
          <a:p>
            <a:pPr algn="l"/>
            <a:r>
              <a:rPr sz="3800" b="1" i="0">
                <a:solidFill>
                  <a:srgbClr val="0F1B36"/>
                </a:solidFill>
                <a:latin typeface="Georgia"/>
              </a:rPr>
              <a:t>Area, then symmetry.</a:t>
            </a:r>
          </a:p>
        </p:txBody>
      </p:sp>
      <p:sp>
        <p:nvSpPr>
          <p:cNvPr id="4" name="Rectangle 3"/>
          <p:cNvSpPr/>
          <p:nvPr/>
        </p:nvSpPr>
        <p:spPr>
          <a:xfrm>
            <a:off x="640080" y="1828800"/>
            <a:ext cx="640080" cy="457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2194560"/>
            <a:ext cx="5440680" cy="3931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194560"/>
            <a:ext cx="5440680" cy="109728"/>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468880"/>
            <a:ext cx="777240" cy="777240"/>
          </a:xfrm>
          <a:prstGeom prst="rect">
            <a:avLst/>
          </a:prstGeom>
          <a:noFill/>
        </p:spPr>
        <p:txBody>
          <a:bodyPr wrap="square" lIns="0" rIns="0" tIns="0" bIns="0" anchor="t">
            <a:spAutoFit/>
          </a:bodyPr>
          <a:lstStyle/>
          <a:p>
            <a:pPr algn="l"/>
            <a:r>
              <a:rPr sz="6000" b="1" i="0">
                <a:solidFill>
                  <a:srgbClr val="D4A24C"/>
                </a:solidFill>
                <a:latin typeface="Georgia"/>
              </a:rPr>
              <a:t>1</a:t>
            </a:r>
          </a:p>
        </p:txBody>
      </p:sp>
      <p:sp>
        <p:nvSpPr>
          <p:cNvPr id="8" name="TextBox 7"/>
          <p:cNvSpPr txBox="1"/>
          <p:nvPr/>
        </p:nvSpPr>
        <p:spPr>
          <a:xfrm>
            <a:off x="1600200" y="2514600"/>
            <a:ext cx="4114800" cy="640080"/>
          </a:xfrm>
          <a:prstGeom prst="rect">
            <a:avLst/>
          </a:prstGeom>
          <a:noFill/>
        </p:spPr>
        <p:txBody>
          <a:bodyPr wrap="square" lIns="0" rIns="0" tIns="0" bIns="0" anchor="t">
            <a:spAutoFit/>
          </a:bodyPr>
          <a:lstStyle/>
          <a:p>
            <a:pPr algn="l"/>
            <a:r>
              <a:rPr sz="2200" b="1" i="0">
                <a:solidFill>
                  <a:srgbClr val="0F1B36"/>
                </a:solidFill>
                <a:latin typeface="Georgia"/>
              </a:rPr>
              <a:t>What is the shape's area?</a:t>
            </a:r>
          </a:p>
        </p:txBody>
      </p:sp>
      <p:sp>
        <p:nvSpPr>
          <p:cNvPr id="9" name="TextBox 8"/>
          <p:cNvSpPr txBox="1"/>
          <p:nvPr/>
        </p:nvSpPr>
        <p:spPr>
          <a:xfrm>
            <a:off x="1600200" y="3246120"/>
            <a:ext cx="4114800" cy="2743200"/>
          </a:xfrm>
          <a:prstGeom prst="rect">
            <a:avLst/>
          </a:prstGeom>
          <a:noFill/>
        </p:spPr>
        <p:txBody>
          <a:bodyPr wrap="square" lIns="0" rIns="0" tIns="0" bIns="0" anchor="t">
            <a:spAutoFit/>
          </a:bodyPr>
          <a:lstStyle/>
          <a:p>
            <a:pPr algn="l">
              <a:lnSpc>
                <a:spcPct val="150000"/>
              </a:lnSpc>
            </a:pPr>
            <a:r>
              <a:rPr sz="1350" b="0" i="0">
                <a:solidFill>
                  <a:srgbClr val="1B2436"/>
                </a:solidFill>
                <a:latin typeface="Calibri"/>
              </a:rPr>
              <a:t>A bigger pentagon is, roughly, a bigger life. This is what "wellness" actually means as a quantity:</a:t>
            </a:r>
          </a:p>
          <a:p>
            <a:pPr algn="l">
              <a:lnSpc>
                <a:spcPct val="150000"/>
              </a:lnSpc>
            </a:pPr>
            <a:r>
              <a:rPr sz="1350" b="0" i="0">
                <a:solidFill>
                  <a:srgbClr val="1B2436"/>
                </a:solidFill>
                <a:latin typeface="Calibri"/>
              </a:rPr>
              <a:t/>
            </a:r>
          </a:p>
          <a:p>
            <a:pPr algn="l">
              <a:lnSpc>
                <a:spcPct val="150000"/>
              </a:lnSpc>
            </a:pPr>
            <a:r>
              <a:rPr sz="1350" b="0" i="0">
                <a:solidFill>
                  <a:srgbClr val="1B2436"/>
                </a:solidFill>
                <a:latin typeface="Calibri"/>
              </a:rPr>
              <a:t>total area across all five dimensions,</a:t>
            </a:r>
          </a:p>
          <a:p>
            <a:pPr algn="l">
              <a:lnSpc>
                <a:spcPct val="150000"/>
              </a:lnSpc>
            </a:pPr>
            <a:r>
              <a:rPr sz="1350" b="0" i="0">
                <a:solidFill>
                  <a:srgbClr val="1B2436"/>
                </a:solidFill>
                <a:latin typeface="Calibri"/>
              </a:rPr>
              <a:t>not max score on one.</a:t>
            </a:r>
          </a:p>
        </p:txBody>
      </p:sp>
      <p:sp>
        <p:nvSpPr>
          <p:cNvPr id="10" name="Rectangle 9"/>
          <p:cNvSpPr/>
          <p:nvPr/>
        </p:nvSpPr>
        <p:spPr>
          <a:xfrm>
            <a:off x="6263640" y="2194560"/>
            <a:ext cx="5440680" cy="3931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94560"/>
            <a:ext cx="5440680" cy="109728"/>
          </a:xfrm>
          <a:prstGeom prst="rect">
            <a:avLst/>
          </a:prstGeom>
          <a:solidFill>
            <a:srgbClr val="5A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2468880"/>
            <a:ext cx="777240" cy="777240"/>
          </a:xfrm>
          <a:prstGeom prst="rect">
            <a:avLst/>
          </a:prstGeom>
          <a:noFill/>
        </p:spPr>
        <p:txBody>
          <a:bodyPr wrap="square" lIns="0" rIns="0" tIns="0" bIns="0" anchor="t">
            <a:spAutoFit/>
          </a:bodyPr>
          <a:lstStyle/>
          <a:p>
            <a:pPr algn="l"/>
            <a:r>
              <a:rPr sz="6000" b="1" i="0">
                <a:solidFill>
                  <a:srgbClr val="5A7A8C"/>
                </a:solidFill>
                <a:latin typeface="Georgia"/>
              </a:rPr>
              <a:t>2</a:t>
            </a:r>
          </a:p>
        </p:txBody>
      </p:sp>
      <p:sp>
        <p:nvSpPr>
          <p:cNvPr id="13" name="TextBox 12"/>
          <p:cNvSpPr txBox="1"/>
          <p:nvPr/>
        </p:nvSpPr>
        <p:spPr>
          <a:xfrm>
            <a:off x="7406640" y="2514600"/>
            <a:ext cx="4114800" cy="640080"/>
          </a:xfrm>
          <a:prstGeom prst="rect">
            <a:avLst/>
          </a:prstGeom>
          <a:noFill/>
        </p:spPr>
        <p:txBody>
          <a:bodyPr wrap="square" lIns="0" rIns="0" tIns="0" bIns="0" anchor="t">
            <a:spAutoFit/>
          </a:bodyPr>
          <a:lstStyle/>
          <a:p>
            <a:pPr algn="l"/>
            <a:r>
              <a:rPr sz="2200" b="1" i="0">
                <a:solidFill>
                  <a:srgbClr val="0F1B36"/>
                </a:solidFill>
                <a:latin typeface="Georgia"/>
              </a:rPr>
              <a:t>How symmetrical is it?</a:t>
            </a:r>
          </a:p>
        </p:txBody>
      </p:sp>
      <p:sp>
        <p:nvSpPr>
          <p:cNvPr id="14" name="TextBox 13"/>
          <p:cNvSpPr txBox="1"/>
          <p:nvPr/>
        </p:nvSpPr>
        <p:spPr>
          <a:xfrm>
            <a:off x="7406640" y="3246120"/>
            <a:ext cx="4114800" cy="2743200"/>
          </a:xfrm>
          <a:prstGeom prst="rect">
            <a:avLst/>
          </a:prstGeom>
          <a:noFill/>
        </p:spPr>
        <p:txBody>
          <a:bodyPr wrap="square" lIns="0" rIns="0" tIns="0" bIns="0" anchor="t">
            <a:spAutoFit/>
          </a:bodyPr>
          <a:lstStyle/>
          <a:p>
            <a:pPr algn="l">
              <a:lnSpc>
                <a:spcPct val="150000"/>
              </a:lnSpc>
            </a:pPr>
            <a:r>
              <a:rPr sz="1350" b="0" i="0">
                <a:solidFill>
                  <a:srgbClr val="1B2436"/>
                </a:solidFill>
                <a:latin typeface="Calibri"/>
              </a:rPr>
              <a:t>A very lopsided shape is fragile. One dimension is carrying the others, and the others are quietly losing capacity.</a:t>
            </a:r>
          </a:p>
          <a:p>
            <a:pPr algn="l">
              <a:lnSpc>
                <a:spcPct val="150000"/>
              </a:lnSpc>
            </a:pPr>
            <a:r>
              <a:rPr sz="1350" b="0" i="0">
                <a:solidFill>
                  <a:srgbClr val="1B2436"/>
                </a:solidFill>
                <a:latin typeface="Calibri"/>
              </a:rPr>
              <a:t/>
            </a:r>
          </a:p>
          <a:p>
            <a:pPr algn="l">
              <a:lnSpc>
                <a:spcPct val="150000"/>
              </a:lnSpc>
            </a:pPr>
            <a:r>
              <a:rPr sz="1350" b="0" i="0">
                <a:solidFill>
                  <a:srgbClr val="1B2436"/>
                </a:solidFill>
                <a:latin typeface="Calibri"/>
              </a:rPr>
              <a:t>Spend years at 8 on Mental and 3 on Social, and Social will eventually drag Mental down to its level. The dimensions average; they do not partition.</a:t>
            </a:r>
          </a:p>
        </p:txBody>
      </p:sp>
      <p:sp>
        <p:nvSpPr>
          <p:cNvPr id="15" name="TextBox 14"/>
          <p:cNvSpPr txBox="1"/>
          <p:nvPr/>
        </p:nvSpPr>
        <p:spPr>
          <a:xfrm>
            <a:off x="457200" y="6446520"/>
            <a:ext cx="1828800" cy="274320"/>
          </a:xfrm>
          <a:prstGeom prst="rect">
            <a:avLst/>
          </a:prstGeom>
          <a:noFill/>
        </p:spPr>
        <p:txBody>
          <a:bodyPr wrap="square" lIns="0" rIns="0" tIns="0" bIns="0" anchor="t">
            <a:spAutoFit/>
          </a:bodyPr>
          <a:lstStyle/>
          <a:p>
            <a:pPr algn="l"/>
            <a:r>
              <a:rPr sz="900" b="0" i="1">
                <a:solidFill>
                  <a:srgbClr val="6B778B"/>
                </a:solidFill>
                <a:latin typeface="Calibri"/>
              </a:rPr>
              <a:t>18 ·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B36"/>
        </a:solidFill>
        <a:effectLst/>
      </p:bgPr>
    </p:bg>
    <p:spTree>
      <p:nvGrpSpPr>
        <p:cNvPr id="1" name=""/>
        <p:cNvGrpSpPr/>
        <p:nvPr/>
      </p:nvGrpSpPr>
      <p:grpSpPr/>
      <p:sp>
        <p:nvSpPr>
          <p:cNvPr id="2" name="TextBox 1"/>
          <p:cNvSpPr txBox="1"/>
          <p:nvPr/>
        </p:nvSpPr>
        <p:spPr>
          <a:xfrm>
            <a:off x="0" y="320040"/>
            <a:ext cx="12191969" cy="457200"/>
          </a:xfrm>
          <a:prstGeom prst="rect">
            <a:avLst/>
          </a:prstGeom>
          <a:noFill/>
        </p:spPr>
        <p:txBody>
          <a:bodyPr wrap="square" lIns="0" rIns="0" tIns="0" bIns="0" anchor="t">
            <a:spAutoFit/>
          </a:bodyPr>
          <a:lstStyle/>
          <a:p>
            <a:pPr algn="ctr"/>
            <a:r>
              <a:rPr sz="1800" b="0" i="0" spc="200">
                <a:solidFill>
                  <a:srgbClr val="D4A24C"/>
                </a:solidFill>
                <a:latin typeface="Georgia"/>
              </a:rPr>
              <a:t>·   ✦   ·   ✦   ·</a:t>
            </a:r>
          </a:p>
        </p:txBody>
      </p:sp>
      <p:sp>
        <p:nvSpPr>
          <p:cNvPr id="3" name="TextBox 2"/>
          <p:cNvSpPr txBox="1"/>
          <p:nvPr/>
        </p:nvSpPr>
        <p:spPr>
          <a:xfrm>
            <a:off x="0" y="6217920"/>
            <a:ext cx="12191969" cy="457200"/>
          </a:xfrm>
          <a:prstGeom prst="rect">
            <a:avLst/>
          </a:prstGeom>
          <a:noFill/>
        </p:spPr>
        <p:txBody>
          <a:bodyPr wrap="square" lIns="0" rIns="0" tIns="0" bIns="0" anchor="t">
            <a:spAutoFit/>
          </a:bodyPr>
          <a:lstStyle/>
          <a:p>
            <a:pPr algn="ctr"/>
            <a:r>
              <a:rPr sz="1800" b="0" i="0" spc="200">
                <a:solidFill>
                  <a:srgbClr val="D4A24C"/>
                </a:solidFill>
                <a:latin typeface="Georgia"/>
              </a:rPr>
              <a:t>·   ✦   ·   ✦   ·</a:t>
            </a:r>
          </a:p>
        </p:txBody>
      </p:sp>
      <p:sp>
        <p:nvSpPr>
          <p:cNvPr id="4" name="TextBox 3"/>
          <p:cNvSpPr txBox="1"/>
          <p:nvPr/>
        </p:nvSpPr>
        <p:spPr>
          <a:xfrm>
            <a:off x="640080" y="914400"/>
            <a:ext cx="10972800" cy="365760"/>
          </a:xfrm>
          <a:prstGeom prst="rect">
            <a:avLst/>
          </a:prstGeom>
          <a:noFill/>
        </p:spPr>
        <p:txBody>
          <a:bodyPr wrap="square" lIns="0" rIns="0" tIns="0" bIns="0" anchor="t">
            <a:spAutoFit/>
          </a:bodyPr>
          <a:lstStyle/>
          <a:p>
            <a:pPr algn="l"/>
            <a:r>
              <a:rPr sz="1100" b="1" i="0" spc="250">
                <a:solidFill>
                  <a:srgbClr val="D4A24C"/>
                </a:solidFill>
                <a:latin typeface="Calibri"/>
              </a:rPr>
              <a:t>CODA</a:t>
            </a:r>
          </a:p>
        </p:txBody>
      </p:sp>
      <p:sp>
        <p:nvSpPr>
          <p:cNvPr id="5" name="TextBox 4"/>
          <p:cNvSpPr txBox="1"/>
          <p:nvPr/>
        </p:nvSpPr>
        <p:spPr>
          <a:xfrm>
            <a:off x="640080" y="1828800"/>
            <a:ext cx="10972800" cy="777240"/>
          </a:xfrm>
          <a:prstGeom prst="rect">
            <a:avLst/>
          </a:prstGeom>
          <a:noFill/>
        </p:spPr>
        <p:txBody>
          <a:bodyPr wrap="square" lIns="0" rIns="0" tIns="0" bIns="0" anchor="t">
            <a:spAutoFit/>
          </a:bodyPr>
          <a:lstStyle/>
          <a:p>
            <a:pPr algn="ctr"/>
            <a:r>
              <a:rPr sz="2800" b="0" i="1">
                <a:solidFill>
                  <a:srgbClr val="FBF8F1"/>
                </a:solidFill>
                <a:latin typeface="Georgia"/>
              </a:rPr>
              <a:t>Bob is the whole instrument.</a:t>
            </a:r>
          </a:p>
        </p:txBody>
      </p:sp>
      <p:sp>
        <p:nvSpPr>
          <p:cNvPr id="6" name="TextBox 5"/>
          <p:cNvSpPr txBox="1"/>
          <p:nvPr/>
        </p:nvSpPr>
        <p:spPr>
          <a:xfrm>
            <a:off x="640080" y="3108960"/>
            <a:ext cx="10972800" cy="777240"/>
          </a:xfrm>
          <a:prstGeom prst="rect">
            <a:avLst/>
          </a:prstGeom>
          <a:noFill/>
        </p:spPr>
        <p:txBody>
          <a:bodyPr wrap="square" lIns="0" rIns="0" tIns="0" bIns="0" anchor="t">
            <a:spAutoFit/>
          </a:bodyPr>
          <a:lstStyle/>
          <a:p>
            <a:pPr algn="ctr"/>
            <a:r>
              <a:rPr sz="4600" b="1" i="0">
                <a:solidFill>
                  <a:srgbClr val="FBF8F1"/>
                </a:solidFill>
                <a:latin typeface="Georgia"/>
              </a:rPr>
              <a:t>Bob is You.</a:t>
            </a:r>
          </a:p>
        </p:txBody>
      </p:sp>
      <p:sp>
        <p:nvSpPr>
          <p:cNvPr id="7" name="TextBox 6"/>
          <p:cNvSpPr txBox="1"/>
          <p:nvPr/>
        </p:nvSpPr>
        <p:spPr>
          <a:xfrm>
            <a:off x="640080" y="3931920"/>
            <a:ext cx="10972800" cy="777240"/>
          </a:xfrm>
          <a:prstGeom prst="rect">
            <a:avLst/>
          </a:prstGeom>
          <a:noFill/>
        </p:spPr>
        <p:txBody>
          <a:bodyPr wrap="square" lIns="0" rIns="0" tIns="0" bIns="0" anchor="t">
            <a:spAutoFit/>
          </a:bodyPr>
          <a:lstStyle/>
          <a:p>
            <a:pPr algn="ctr"/>
            <a:r>
              <a:rPr sz="4600" b="1" i="1">
                <a:solidFill>
                  <a:srgbClr val="D4A24C"/>
                </a:solidFill>
                <a:latin typeface="Georgia"/>
              </a:rPr>
              <a:t>You are Bob.</a:t>
            </a:r>
          </a:p>
        </p:txBody>
      </p:sp>
      <p:sp>
        <p:nvSpPr>
          <p:cNvPr id="8" name="TextBox 7"/>
          <p:cNvSpPr txBox="1"/>
          <p:nvPr/>
        </p:nvSpPr>
        <p:spPr>
          <a:xfrm>
            <a:off x="640080" y="5349240"/>
            <a:ext cx="10972800" cy="640080"/>
          </a:xfrm>
          <a:prstGeom prst="rect">
            <a:avLst/>
          </a:prstGeom>
          <a:noFill/>
        </p:spPr>
        <p:txBody>
          <a:bodyPr wrap="square" lIns="0" rIns="0" tIns="0" bIns="0" anchor="t">
            <a:spAutoFit/>
          </a:bodyPr>
          <a:lstStyle/>
          <a:p>
            <a:pPr algn="ctr"/>
            <a:r>
              <a:rPr sz="2200" b="0" i="1">
                <a:solidFill>
                  <a:srgbClr val="FBF8F1"/>
                </a:solidFill>
                <a:latin typeface="Georgia"/>
              </a:rPr>
              <a:t>The shape is the thing to look at.</a:t>
            </a:r>
          </a:p>
        </p:txBody>
      </p:sp>
      <p:sp>
        <p:nvSpPr>
          <p:cNvPr id="9" name="TextBox 8"/>
          <p:cNvSpPr txBox="1"/>
          <p:nvPr/>
        </p:nvSpPr>
        <p:spPr>
          <a:xfrm>
            <a:off x="457200" y="6446520"/>
            <a:ext cx="1828800" cy="274320"/>
          </a:xfrm>
          <a:prstGeom prst="rect">
            <a:avLst/>
          </a:prstGeom>
          <a:noFill/>
        </p:spPr>
        <p:txBody>
          <a:bodyPr wrap="square" lIns="0" rIns="0" tIns="0" bIns="0" anchor="t">
            <a:spAutoFit/>
          </a:bodyPr>
          <a:lstStyle/>
          <a:p>
            <a:pPr algn="l"/>
            <a:r>
              <a:rPr sz="900" b="0" i="1">
                <a:solidFill>
                  <a:srgbClr val="8D97AB"/>
                </a:solidFill>
                <a:latin typeface="Calibri"/>
              </a:rPr>
              <a:t>19 ·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40080" y="502920"/>
            <a:ext cx="10972800" cy="365760"/>
          </a:xfrm>
          <a:prstGeom prst="rect">
            <a:avLst/>
          </a:prstGeom>
          <a:noFill/>
        </p:spPr>
        <p:txBody>
          <a:bodyPr wrap="square" lIns="0" rIns="0" tIns="0" bIns="0" anchor="t">
            <a:spAutoFit/>
          </a:bodyPr>
          <a:lstStyle/>
          <a:p>
            <a:pPr algn="l"/>
            <a:r>
              <a:rPr sz="1100" b="1" i="0" spc="250">
                <a:solidFill>
                  <a:srgbClr val="D4A24C"/>
                </a:solidFill>
                <a:latin typeface="Calibri"/>
              </a:rPr>
              <a:t>SOURCES &amp; FURTHER READING</a:t>
            </a:r>
          </a:p>
        </p:txBody>
      </p:sp>
      <p:sp>
        <p:nvSpPr>
          <p:cNvPr id="3" name="TextBox 2"/>
          <p:cNvSpPr txBox="1"/>
          <p:nvPr/>
        </p:nvSpPr>
        <p:spPr>
          <a:xfrm>
            <a:off x="640080" y="868680"/>
            <a:ext cx="10972800" cy="914400"/>
          </a:xfrm>
          <a:prstGeom prst="rect">
            <a:avLst/>
          </a:prstGeom>
          <a:noFill/>
        </p:spPr>
        <p:txBody>
          <a:bodyPr wrap="square" lIns="0" rIns="0" tIns="0" bIns="0" anchor="t">
            <a:spAutoFit/>
          </a:bodyPr>
          <a:lstStyle/>
          <a:p>
            <a:pPr algn="l"/>
            <a:r>
              <a:rPr sz="3000" b="1" i="0">
                <a:solidFill>
                  <a:srgbClr val="0F1B36"/>
                </a:solidFill>
                <a:latin typeface="Georgia"/>
              </a:rPr>
              <a:t>What stands behind the claims.</a:t>
            </a:r>
          </a:p>
        </p:txBody>
      </p:sp>
      <p:sp>
        <p:nvSpPr>
          <p:cNvPr id="4" name="Rectangle 3"/>
          <p:cNvSpPr/>
          <p:nvPr/>
        </p:nvSpPr>
        <p:spPr>
          <a:xfrm>
            <a:off x="640080" y="1783080"/>
            <a:ext cx="640080" cy="457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103120"/>
            <a:ext cx="3200400" cy="365760"/>
          </a:xfrm>
          <a:prstGeom prst="rect">
            <a:avLst/>
          </a:prstGeom>
          <a:noFill/>
        </p:spPr>
        <p:txBody>
          <a:bodyPr wrap="square" lIns="0" rIns="0" tIns="0" bIns="0" anchor="t">
            <a:spAutoFit/>
          </a:bodyPr>
          <a:lstStyle/>
          <a:p>
            <a:pPr algn="l"/>
            <a:r>
              <a:rPr sz="1150" b="1" i="0" spc="50">
                <a:solidFill>
                  <a:srgbClr val="D4A24C"/>
                </a:solidFill>
                <a:latin typeface="Calibri"/>
              </a:rPr>
              <a:t>WHO (1948)</a:t>
            </a:r>
          </a:p>
        </p:txBody>
      </p:sp>
      <p:sp>
        <p:nvSpPr>
          <p:cNvPr id="6" name="TextBox 5"/>
          <p:cNvSpPr txBox="1"/>
          <p:nvPr/>
        </p:nvSpPr>
        <p:spPr>
          <a:xfrm>
            <a:off x="4114800" y="2103120"/>
            <a:ext cx="7680960" cy="365760"/>
          </a:xfrm>
          <a:prstGeom prst="rect">
            <a:avLst/>
          </a:prstGeom>
          <a:noFill/>
        </p:spPr>
        <p:txBody>
          <a:bodyPr wrap="square" lIns="0" rIns="0" tIns="0" bIns="0" anchor="t">
            <a:spAutoFit/>
          </a:bodyPr>
          <a:lstStyle/>
          <a:p>
            <a:pPr algn="l"/>
            <a:r>
              <a:rPr sz="1150" b="0" i="0">
                <a:solidFill>
                  <a:srgbClr val="1B2436"/>
                </a:solidFill>
                <a:latin typeface="Calibri"/>
              </a:rPr>
              <a:t>Constitution of the World Health Organization: health as physical, mental, and social well-being, in force 1948.</a:t>
            </a:r>
          </a:p>
        </p:txBody>
      </p:sp>
      <p:sp>
        <p:nvSpPr>
          <p:cNvPr id="7" name="TextBox 6"/>
          <p:cNvSpPr txBox="1"/>
          <p:nvPr/>
        </p:nvSpPr>
        <p:spPr>
          <a:xfrm>
            <a:off x="777240" y="2487168"/>
            <a:ext cx="3200400" cy="365760"/>
          </a:xfrm>
          <a:prstGeom prst="rect">
            <a:avLst/>
          </a:prstGeom>
          <a:noFill/>
        </p:spPr>
        <p:txBody>
          <a:bodyPr wrap="square" lIns="0" rIns="0" tIns="0" bIns="0" anchor="t">
            <a:spAutoFit/>
          </a:bodyPr>
          <a:lstStyle/>
          <a:p>
            <a:pPr algn="l"/>
            <a:r>
              <a:rPr sz="1150" b="1" i="0" spc="50">
                <a:solidFill>
                  <a:srgbClr val="D4A24C"/>
                </a:solidFill>
                <a:latin typeface="Calibri"/>
              </a:rPr>
              <a:t>Engel (1977)</a:t>
            </a:r>
          </a:p>
        </p:txBody>
      </p:sp>
      <p:sp>
        <p:nvSpPr>
          <p:cNvPr id="8" name="TextBox 7"/>
          <p:cNvSpPr txBox="1"/>
          <p:nvPr/>
        </p:nvSpPr>
        <p:spPr>
          <a:xfrm>
            <a:off x="4114800" y="2487168"/>
            <a:ext cx="7680960" cy="365760"/>
          </a:xfrm>
          <a:prstGeom prst="rect">
            <a:avLst/>
          </a:prstGeom>
          <a:noFill/>
        </p:spPr>
        <p:txBody>
          <a:bodyPr wrap="square" lIns="0" rIns="0" tIns="0" bIns="0" anchor="t">
            <a:spAutoFit/>
          </a:bodyPr>
          <a:lstStyle/>
          <a:p>
            <a:pPr algn="l"/>
            <a:r>
              <a:rPr sz="1150" b="0" i="0">
                <a:solidFill>
                  <a:srgbClr val="1B2436"/>
                </a:solidFill>
                <a:latin typeface="Calibri"/>
              </a:rPr>
              <a:t>"The Need for a New Medical Model: A Challenge for Biomedicine." Science 196(4286): 129-136.</a:t>
            </a:r>
          </a:p>
        </p:txBody>
      </p:sp>
      <p:sp>
        <p:nvSpPr>
          <p:cNvPr id="9" name="TextBox 8"/>
          <p:cNvSpPr txBox="1"/>
          <p:nvPr/>
        </p:nvSpPr>
        <p:spPr>
          <a:xfrm>
            <a:off x="777240" y="2871216"/>
            <a:ext cx="3200400" cy="365760"/>
          </a:xfrm>
          <a:prstGeom prst="rect">
            <a:avLst/>
          </a:prstGeom>
          <a:noFill/>
        </p:spPr>
        <p:txBody>
          <a:bodyPr wrap="square" lIns="0" rIns="0" tIns="0" bIns="0" anchor="t">
            <a:spAutoFit/>
          </a:bodyPr>
          <a:lstStyle/>
          <a:p>
            <a:pPr algn="l"/>
            <a:r>
              <a:rPr sz="1150" b="1" i="0" spc="50">
                <a:solidFill>
                  <a:srgbClr val="D4A24C"/>
                </a:solidFill>
                <a:latin typeface="Calibri"/>
              </a:rPr>
              <a:t>Hettler (1976)</a:t>
            </a:r>
          </a:p>
        </p:txBody>
      </p:sp>
      <p:sp>
        <p:nvSpPr>
          <p:cNvPr id="10" name="TextBox 9"/>
          <p:cNvSpPr txBox="1"/>
          <p:nvPr/>
        </p:nvSpPr>
        <p:spPr>
          <a:xfrm>
            <a:off x="4114800" y="2871216"/>
            <a:ext cx="7680960" cy="365760"/>
          </a:xfrm>
          <a:prstGeom prst="rect">
            <a:avLst/>
          </a:prstGeom>
          <a:noFill/>
        </p:spPr>
        <p:txBody>
          <a:bodyPr wrap="square" lIns="0" rIns="0" tIns="0" bIns="0" anchor="t">
            <a:spAutoFit/>
          </a:bodyPr>
          <a:lstStyle/>
          <a:p>
            <a:pPr algn="l"/>
            <a:r>
              <a:rPr sz="1150" b="0" i="0">
                <a:solidFill>
                  <a:srgbClr val="1B2436"/>
                </a:solidFill>
                <a:latin typeface="Calibri"/>
              </a:rPr>
              <a:t>The Six Dimensions of Wellness. National Wellness Institute.</a:t>
            </a:r>
          </a:p>
        </p:txBody>
      </p:sp>
      <p:sp>
        <p:nvSpPr>
          <p:cNvPr id="11" name="TextBox 10"/>
          <p:cNvSpPr txBox="1"/>
          <p:nvPr/>
        </p:nvSpPr>
        <p:spPr>
          <a:xfrm>
            <a:off x="777240" y="3255264"/>
            <a:ext cx="3200400" cy="365760"/>
          </a:xfrm>
          <a:prstGeom prst="rect">
            <a:avLst/>
          </a:prstGeom>
          <a:noFill/>
        </p:spPr>
        <p:txBody>
          <a:bodyPr wrap="square" lIns="0" rIns="0" tIns="0" bIns="0" anchor="t">
            <a:spAutoFit/>
          </a:bodyPr>
          <a:lstStyle/>
          <a:p>
            <a:pPr algn="l"/>
            <a:r>
              <a:rPr sz="1150" b="1" i="0" spc="50">
                <a:solidFill>
                  <a:srgbClr val="D4A24C"/>
                </a:solidFill>
                <a:latin typeface="Calibri"/>
              </a:rPr>
              <a:t>SAMHSA</a:t>
            </a:r>
          </a:p>
        </p:txBody>
      </p:sp>
      <p:sp>
        <p:nvSpPr>
          <p:cNvPr id="12" name="TextBox 11"/>
          <p:cNvSpPr txBox="1"/>
          <p:nvPr/>
        </p:nvSpPr>
        <p:spPr>
          <a:xfrm>
            <a:off x="4114800" y="3255264"/>
            <a:ext cx="7680960" cy="365760"/>
          </a:xfrm>
          <a:prstGeom prst="rect">
            <a:avLst/>
          </a:prstGeom>
          <a:noFill/>
        </p:spPr>
        <p:txBody>
          <a:bodyPr wrap="square" lIns="0" rIns="0" tIns="0" bIns="0" anchor="t">
            <a:spAutoFit/>
          </a:bodyPr>
          <a:lstStyle/>
          <a:p>
            <a:pPr algn="l"/>
            <a:r>
              <a:rPr sz="1150" b="0" i="0">
                <a:solidFill>
                  <a:srgbClr val="1B2436"/>
                </a:solidFill>
                <a:latin typeface="Calibri"/>
              </a:rPr>
              <a:t>Creating a Healthier Life: A Step-by-Step Guide to Wellness (eight dimensions).</a:t>
            </a:r>
          </a:p>
        </p:txBody>
      </p:sp>
      <p:sp>
        <p:nvSpPr>
          <p:cNvPr id="13" name="TextBox 12"/>
          <p:cNvSpPr txBox="1"/>
          <p:nvPr/>
        </p:nvSpPr>
        <p:spPr>
          <a:xfrm>
            <a:off x="777240" y="3639312"/>
            <a:ext cx="3200400" cy="365760"/>
          </a:xfrm>
          <a:prstGeom prst="rect">
            <a:avLst/>
          </a:prstGeom>
          <a:noFill/>
        </p:spPr>
        <p:txBody>
          <a:bodyPr wrap="square" lIns="0" rIns="0" tIns="0" bIns="0" anchor="t">
            <a:spAutoFit/>
          </a:bodyPr>
          <a:lstStyle/>
          <a:p>
            <a:pPr algn="l"/>
            <a:r>
              <a:rPr sz="1150" b="1" i="0" spc="50">
                <a:solidFill>
                  <a:srgbClr val="D4A24C"/>
                </a:solidFill>
                <a:latin typeface="Calibri"/>
              </a:rPr>
              <a:t>Walker (2017)</a:t>
            </a:r>
          </a:p>
        </p:txBody>
      </p:sp>
      <p:sp>
        <p:nvSpPr>
          <p:cNvPr id="14" name="TextBox 13"/>
          <p:cNvSpPr txBox="1"/>
          <p:nvPr/>
        </p:nvSpPr>
        <p:spPr>
          <a:xfrm>
            <a:off x="4114800" y="3639312"/>
            <a:ext cx="7680960" cy="365760"/>
          </a:xfrm>
          <a:prstGeom prst="rect">
            <a:avLst/>
          </a:prstGeom>
          <a:noFill/>
        </p:spPr>
        <p:txBody>
          <a:bodyPr wrap="square" lIns="0" rIns="0" tIns="0" bIns="0" anchor="t">
            <a:spAutoFit/>
          </a:bodyPr>
          <a:lstStyle/>
          <a:p>
            <a:pPr algn="l"/>
            <a:r>
              <a:rPr sz="1150" b="0" i="0">
                <a:solidFill>
                  <a:srgbClr val="1B2436"/>
                </a:solidFill>
                <a:latin typeface="Calibri"/>
              </a:rPr>
              <a:t>Why We Sleep: Unlocking the Power of Sleep and Dreams. Scribner.</a:t>
            </a:r>
          </a:p>
        </p:txBody>
      </p:sp>
      <p:sp>
        <p:nvSpPr>
          <p:cNvPr id="15" name="TextBox 14"/>
          <p:cNvSpPr txBox="1"/>
          <p:nvPr/>
        </p:nvSpPr>
        <p:spPr>
          <a:xfrm>
            <a:off x="777240" y="4023360"/>
            <a:ext cx="3200400" cy="365760"/>
          </a:xfrm>
          <a:prstGeom prst="rect">
            <a:avLst/>
          </a:prstGeom>
          <a:noFill/>
        </p:spPr>
        <p:txBody>
          <a:bodyPr wrap="square" lIns="0" rIns="0" tIns="0" bIns="0" anchor="t">
            <a:spAutoFit/>
          </a:bodyPr>
          <a:lstStyle/>
          <a:p>
            <a:pPr algn="l"/>
            <a:r>
              <a:rPr sz="1150" b="1" i="0" spc="50">
                <a:solidFill>
                  <a:srgbClr val="D4A24C"/>
                </a:solidFill>
                <a:latin typeface="Calibri"/>
              </a:rPr>
              <a:t>Ratey (2008)</a:t>
            </a:r>
          </a:p>
        </p:txBody>
      </p:sp>
      <p:sp>
        <p:nvSpPr>
          <p:cNvPr id="16" name="TextBox 15"/>
          <p:cNvSpPr txBox="1"/>
          <p:nvPr/>
        </p:nvSpPr>
        <p:spPr>
          <a:xfrm>
            <a:off x="4114800" y="4023360"/>
            <a:ext cx="7680960" cy="365760"/>
          </a:xfrm>
          <a:prstGeom prst="rect">
            <a:avLst/>
          </a:prstGeom>
          <a:noFill/>
        </p:spPr>
        <p:txBody>
          <a:bodyPr wrap="square" lIns="0" rIns="0" tIns="0" bIns="0" anchor="t">
            <a:spAutoFit/>
          </a:bodyPr>
          <a:lstStyle/>
          <a:p>
            <a:pPr algn="l"/>
            <a:r>
              <a:rPr sz="1150" b="0" i="0">
                <a:solidFill>
                  <a:srgbClr val="1B2436"/>
                </a:solidFill>
                <a:latin typeface="Calibri"/>
              </a:rPr>
              <a:t>Spark: The Revolutionary New Science of Exercise and the Brain. Little, Brown.</a:t>
            </a:r>
          </a:p>
        </p:txBody>
      </p:sp>
      <p:sp>
        <p:nvSpPr>
          <p:cNvPr id="17" name="TextBox 16"/>
          <p:cNvSpPr txBox="1"/>
          <p:nvPr/>
        </p:nvSpPr>
        <p:spPr>
          <a:xfrm>
            <a:off x="777240" y="4407408"/>
            <a:ext cx="3200400" cy="365760"/>
          </a:xfrm>
          <a:prstGeom prst="rect">
            <a:avLst/>
          </a:prstGeom>
          <a:noFill/>
        </p:spPr>
        <p:txBody>
          <a:bodyPr wrap="square" lIns="0" rIns="0" tIns="0" bIns="0" anchor="t">
            <a:spAutoFit/>
          </a:bodyPr>
          <a:lstStyle/>
          <a:p>
            <a:pPr algn="l"/>
            <a:r>
              <a:rPr sz="1150" b="1" i="0" spc="50">
                <a:solidFill>
                  <a:srgbClr val="D4A24C"/>
                </a:solidFill>
                <a:latin typeface="Calibri"/>
              </a:rPr>
              <a:t>Holt-Lunstad, Smith &amp; Layton (2010)</a:t>
            </a:r>
          </a:p>
        </p:txBody>
      </p:sp>
      <p:sp>
        <p:nvSpPr>
          <p:cNvPr id="18" name="TextBox 17"/>
          <p:cNvSpPr txBox="1"/>
          <p:nvPr/>
        </p:nvSpPr>
        <p:spPr>
          <a:xfrm>
            <a:off x="4114800" y="4407408"/>
            <a:ext cx="7680960" cy="365760"/>
          </a:xfrm>
          <a:prstGeom prst="rect">
            <a:avLst/>
          </a:prstGeom>
          <a:noFill/>
        </p:spPr>
        <p:txBody>
          <a:bodyPr wrap="square" lIns="0" rIns="0" tIns="0" bIns="0" anchor="t">
            <a:spAutoFit/>
          </a:bodyPr>
          <a:lstStyle/>
          <a:p>
            <a:pPr algn="l"/>
            <a:r>
              <a:rPr sz="1150" b="0" i="0">
                <a:solidFill>
                  <a:srgbClr val="1B2436"/>
                </a:solidFill>
                <a:latin typeface="Calibri"/>
              </a:rPr>
              <a:t>"Social Relationships and Mortality Risk: A Meta-Analytic Review." PLOS Medicine 7(7): e1000316.</a:t>
            </a:r>
          </a:p>
        </p:txBody>
      </p:sp>
      <p:sp>
        <p:nvSpPr>
          <p:cNvPr id="19" name="TextBox 18"/>
          <p:cNvSpPr txBox="1"/>
          <p:nvPr/>
        </p:nvSpPr>
        <p:spPr>
          <a:xfrm>
            <a:off x="777240" y="4791456"/>
            <a:ext cx="3200400" cy="365760"/>
          </a:xfrm>
          <a:prstGeom prst="rect">
            <a:avLst/>
          </a:prstGeom>
          <a:noFill/>
        </p:spPr>
        <p:txBody>
          <a:bodyPr wrap="square" lIns="0" rIns="0" tIns="0" bIns="0" anchor="t">
            <a:spAutoFit/>
          </a:bodyPr>
          <a:lstStyle/>
          <a:p>
            <a:pPr algn="l"/>
            <a:r>
              <a:rPr sz="1150" b="1" i="0" spc="50">
                <a:solidFill>
                  <a:srgbClr val="D4A24C"/>
                </a:solidFill>
                <a:latin typeface="Calibri"/>
              </a:rPr>
              <a:t>Hill &amp; Turiano (2014)</a:t>
            </a:r>
          </a:p>
        </p:txBody>
      </p:sp>
      <p:sp>
        <p:nvSpPr>
          <p:cNvPr id="20" name="TextBox 19"/>
          <p:cNvSpPr txBox="1"/>
          <p:nvPr/>
        </p:nvSpPr>
        <p:spPr>
          <a:xfrm>
            <a:off x="4114800" y="4791456"/>
            <a:ext cx="7680960" cy="365760"/>
          </a:xfrm>
          <a:prstGeom prst="rect">
            <a:avLst/>
          </a:prstGeom>
          <a:noFill/>
        </p:spPr>
        <p:txBody>
          <a:bodyPr wrap="square" lIns="0" rIns="0" tIns="0" bIns="0" anchor="t">
            <a:spAutoFit/>
          </a:bodyPr>
          <a:lstStyle/>
          <a:p>
            <a:pPr algn="l"/>
            <a:r>
              <a:rPr sz="1150" b="0" i="0">
                <a:solidFill>
                  <a:srgbClr val="1B2436"/>
                </a:solidFill>
                <a:latin typeface="Calibri"/>
              </a:rPr>
              <a:t>"Purpose in Life as a Predictor of Mortality Across Adulthood." Psychological Science 25(7): 1482-1486.</a:t>
            </a:r>
          </a:p>
        </p:txBody>
      </p:sp>
      <p:sp>
        <p:nvSpPr>
          <p:cNvPr id="21" name="TextBox 20"/>
          <p:cNvSpPr txBox="1"/>
          <p:nvPr/>
        </p:nvSpPr>
        <p:spPr>
          <a:xfrm>
            <a:off x="777240" y="5175504"/>
            <a:ext cx="3200400" cy="365760"/>
          </a:xfrm>
          <a:prstGeom prst="rect">
            <a:avLst/>
          </a:prstGeom>
          <a:noFill/>
        </p:spPr>
        <p:txBody>
          <a:bodyPr wrap="square" lIns="0" rIns="0" tIns="0" bIns="0" anchor="t">
            <a:spAutoFit/>
          </a:bodyPr>
          <a:lstStyle/>
          <a:p>
            <a:pPr algn="l"/>
            <a:r>
              <a:rPr sz="1150" b="1" i="0" spc="50">
                <a:solidFill>
                  <a:srgbClr val="D4A24C"/>
                </a:solidFill>
                <a:latin typeface="Calibri"/>
              </a:rPr>
              <a:t>Waldinger &amp; Schulz (2023)</a:t>
            </a:r>
          </a:p>
        </p:txBody>
      </p:sp>
      <p:sp>
        <p:nvSpPr>
          <p:cNvPr id="22" name="TextBox 21"/>
          <p:cNvSpPr txBox="1"/>
          <p:nvPr/>
        </p:nvSpPr>
        <p:spPr>
          <a:xfrm>
            <a:off x="4114800" y="5175504"/>
            <a:ext cx="7680960" cy="365760"/>
          </a:xfrm>
          <a:prstGeom prst="rect">
            <a:avLst/>
          </a:prstGeom>
          <a:noFill/>
        </p:spPr>
        <p:txBody>
          <a:bodyPr wrap="square" lIns="0" rIns="0" tIns="0" bIns="0" anchor="t">
            <a:spAutoFit/>
          </a:bodyPr>
          <a:lstStyle/>
          <a:p>
            <a:pPr algn="l"/>
            <a:r>
              <a:rPr sz="1150" b="0" i="0">
                <a:solidFill>
                  <a:srgbClr val="1B2436"/>
                </a:solidFill>
                <a:latin typeface="Calibri"/>
              </a:rPr>
              <a:t>The Good Life. Simon &amp; Schuster. Harvard Study of Adult Development.</a:t>
            </a:r>
          </a:p>
        </p:txBody>
      </p:sp>
      <p:sp>
        <p:nvSpPr>
          <p:cNvPr id="23" name="TextBox 22"/>
          <p:cNvSpPr txBox="1"/>
          <p:nvPr/>
        </p:nvSpPr>
        <p:spPr>
          <a:xfrm>
            <a:off x="777240" y="5559552"/>
            <a:ext cx="3200400" cy="365760"/>
          </a:xfrm>
          <a:prstGeom prst="rect">
            <a:avLst/>
          </a:prstGeom>
          <a:noFill/>
        </p:spPr>
        <p:txBody>
          <a:bodyPr wrap="square" lIns="0" rIns="0" tIns="0" bIns="0" anchor="t">
            <a:spAutoFit/>
          </a:bodyPr>
          <a:lstStyle/>
          <a:p>
            <a:pPr algn="l"/>
            <a:r>
              <a:rPr sz="1150" b="1" i="0" spc="50">
                <a:solidFill>
                  <a:srgbClr val="D4A24C"/>
                </a:solidFill>
                <a:latin typeface="Calibri"/>
              </a:rPr>
              <a:t>van der Kolk (2014)</a:t>
            </a:r>
          </a:p>
        </p:txBody>
      </p:sp>
      <p:sp>
        <p:nvSpPr>
          <p:cNvPr id="24" name="TextBox 23"/>
          <p:cNvSpPr txBox="1"/>
          <p:nvPr/>
        </p:nvSpPr>
        <p:spPr>
          <a:xfrm>
            <a:off x="4114800" y="5559552"/>
            <a:ext cx="7680960" cy="365760"/>
          </a:xfrm>
          <a:prstGeom prst="rect">
            <a:avLst/>
          </a:prstGeom>
          <a:noFill/>
        </p:spPr>
        <p:txBody>
          <a:bodyPr wrap="square" lIns="0" rIns="0" tIns="0" bIns="0" anchor="t">
            <a:spAutoFit/>
          </a:bodyPr>
          <a:lstStyle/>
          <a:p>
            <a:pPr algn="l"/>
            <a:r>
              <a:rPr sz="1150" b="0" i="0">
                <a:solidFill>
                  <a:srgbClr val="1B2436"/>
                </a:solidFill>
                <a:latin typeface="Calibri"/>
              </a:rPr>
              <a:t>The Body Keeps the Score: Brain, Mind, and Body in the Healing of Trauma. Viking.</a:t>
            </a:r>
          </a:p>
        </p:txBody>
      </p:sp>
      <p:sp>
        <p:nvSpPr>
          <p:cNvPr id="25" name="TextBox 24"/>
          <p:cNvSpPr txBox="1"/>
          <p:nvPr/>
        </p:nvSpPr>
        <p:spPr>
          <a:xfrm>
            <a:off x="457200" y="6446520"/>
            <a:ext cx="1828800" cy="274320"/>
          </a:xfrm>
          <a:prstGeom prst="rect">
            <a:avLst/>
          </a:prstGeom>
          <a:noFill/>
        </p:spPr>
        <p:txBody>
          <a:bodyPr wrap="square" lIns="0" rIns="0" tIns="0" bIns="0" anchor="t">
            <a:spAutoFit/>
          </a:bodyPr>
          <a:lstStyle/>
          <a:p>
            <a:pPr algn="l"/>
            <a:r>
              <a:rPr sz="900" b="0" i="1">
                <a:solidFill>
                  <a:srgbClr val="6B778B"/>
                </a:solidFill>
                <a:latin typeface="Calibri"/>
              </a:rPr>
              <a:t>20 · 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1B36"/>
        </a:solidFill>
        <a:effectLst/>
      </p:bgPr>
    </p:bg>
    <p:spTree>
      <p:nvGrpSpPr>
        <p:cNvPr id="1" name=""/>
        <p:cNvGrpSpPr/>
        <p:nvPr/>
      </p:nvGrpSpPr>
      <p:grpSpPr/>
      <p:sp>
        <p:nvSpPr>
          <p:cNvPr id="2" name="TextBox 1"/>
          <p:cNvSpPr txBox="1"/>
          <p:nvPr/>
        </p:nvSpPr>
        <p:spPr>
          <a:xfrm>
            <a:off x="0" y="1188720"/>
            <a:ext cx="12191969" cy="457200"/>
          </a:xfrm>
          <a:prstGeom prst="rect">
            <a:avLst/>
          </a:prstGeom>
          <a:noFill/>
        </p:spPr>
        <p:txBody>
          <a:bodyPr wrap="square" lIns="0" rIns="0" tIns="0" bIns="0" anchor="t">
            <a:spAutoFit/>
          </a:bodyPr>
          <a:lstStyle/>
          <a:p>
            <a:pPr algn="ctr"/>
            <a:r>
              <a:rPr sz="2000" b="0" i="0" spc="200">
                <a:solidFill>
                  <a:srgbClr val="D4A24C"/>
                </a:solidFill>
                <a:latin typeface="Georgia"/>
              </a:rPr>
              <a:t>·   ✦   ·   ✦   ·   ✦   ·</a:t>
            </a:r>
          </a:p>
        </p:txBody>
      </p:sp>
      <p:sp>
        <p:nvSpPr>
          <p:cNvPr id="3" name="TextBox 2"/>
          <p:cNvSpPr txBox="1"/>
          <p:nvPr/>
        </p:nvSpPr>
        <p:spPr>
          <a:xfrm>
            <a:off x="640080" y="2331720"/>
            <a:ext cx="10881360" cy="1280160"/>
          </a:xfrm>
          <a:prstGeom prst="rect">
            <a:avLst/>
          </a:prstGeom>
          <a:noFill/>
        </p:spPr>
        <p:txBody>
          <a:bodyPr wrap="square" lIns="0" rIns="0" tIns="0" bIns="0" anchor="t">
            <a:spAutoFit/>
          </a:bodyPr>
          <a:lstStyle/>
          <a:p>
            <a:pPr algn="ctr"/>
            <a:r>
              <a:rPr sz="5600" b="1" i="1" spc="-30">
                <a:solidFill>
                  <a:srgbClr val="FBF8F1"/>
                </a:solidFill>
                <a:latin typeface="Georgia"/>
              </a:rPr>
              <a:t>Bob is You.</a:t>
            </a:r>
          </a:p>
        </p:txBody>
      </p:sp>
      <p:sp>
        <p:nvSpPr>
          <p:cNvPr id="4" name="TextBox 3"/>
          <p:cNvSpPr txBox="1"/>
          <p:nvPr/>
        </p:nvSpPr>
        <p:spPr>
          <a:xfrm>
            <a:off x="640080" y="3337560"/>
            <a:ext cx="10881360" cy="914400"/>
          </a:xfrm>
          <a:prstGeom prst="rect">
            <a:avLst/>
          </a:prstGeom>
          <a:noFill/>
        </p:spPr>
        <p:txBody>
          <a:bodyPr wrap="square" lIns="0" rIns="0" tIns="0" bIns="0" anchor="t">
            <a:spAutoFit/>
          </a:bodyPr>
          <a:lstStyle/>
          <a:p>
            <a:pPr algn="ctr"/>
            <a:r>
              <a:rPr sz="4200" b="0" i="1">
                <a:solidFill>
                  <a:srgbClr val="D4A24C"/>
                </a:solidFill>
                <a:latin typeface="Georgia"/>
              </a:rPr>
              <a:t>You are Bob.</a:t>
            </a:r>
          </a:p>
        </p:txBody>
      </p:sp>
      <p:sp>
        <p:nvSpPr>
          <p:cNvPr id="5" name="TextBox 4"/>
          <p:cNvSpPr txBox="1"/>
          <p:nvPr/>
        </p:nvSpPr>
        <p:spPr>
          <a:xfrm>
            <a:off x="640080" y="4434840"/>
            <a:ext cx="10881360" cy="640080"/>
          </a:xfrm>
          <a:prstGeom prst="rect">
            <a:avLst/>
          </a:prstGeom>
          <a:noFill/>
        </p:spPr>
        <p:txBody>
          <a:bodyPr wrap="square" lIns="0" rIns="0" tIns="0" bIns="0" anchor="t">
            <a:spAutoFit/>
          </a:bodyPr>
          <a:lstStyle/>
          <a:p>
            <a:pPr algn="ctr"/>
            <a:r>
              <a:rPr sz="2400" b="0" i="1">
                <a:solidFill>
                  <a:srgbClr val="FBF8F1"/>
                </a:solidFill>
                <a:latin typeface="Georgia"/>
              </a:rPr>
              <a:t>Look at the shape.</a:t>
            </a:r>
          </a:p>
        </p:txBody>
      </p:sp>
      <p:sp>
        <p:nvSpPr>
          <p:cNvPr id="6" name="TextBox 5"/>
          <p:cNvSpPr txBox="1"/>
          <p:nvPr/>
        </p:nvSpPr>
        <p:spPr>
          <a:xfrm>
            <a:off x="0" y="5349240"/>
            <a:ext cx="12191969" cy="457200"/>
          </a:xfrm>
          <a:prstGeom prst="rect">
            <a:avLst/>
          </a:prstGeom>
          <a:noFill/>
        </p:spPr>
        <p:txBody>
          <a:bodyPr wrap="square" lIns="0" rIns="0" tIns="0" bIns="0" anchor="t">
            <a:spAutoFit/>
          </a:bodyPr>
          <a:lstStyle/>
          <a:p>
            <a:pPr algn="ctr"/>
            <a:r>
              <a:rPr sz="2000" b="0" i="0" spc="200">
                <a:solidFill>
                  <a:srgbClr val="D4A24C"/>
                </a:solidFill>
                <a:latin typeface="Georgia"/>
              </a:rPr>
              <a:t>·   ✦   ·   ✦   ·   ✦   ·</a:t>
            </a:r>
          </a:p>
        </p:txBody>
      </p:sp>
      <p:sp>
        <p:nvSpPr>
          <p:cNvPr id="7" name="TextBox 6"/>
          <p:cNvSpPr txBox="1"/>
          <p:nvPr/>
        </p:nvSpPr>
        <p:spPr>
          <a:xfrm>
            <a:off x="640080" y="6080760"/>
            <a:ext cx="10881360" cy="365760"/>
          </a:xfrm>
          <a:prstGeom prst="rect">
            <a:avLst/>
          </a:prstGeom>
          <a:noFill/>
        </p:spPr>
        <p:txBody>
          <a:bodyPr wrap="square" lIns="0" rIns="0" tIns="0" bIns="0" anchor="t">
            <a:spAutoFit/>
          </a:bodyPr>
          <a:lstStyle/>
          <a:p>
            <a:pPr algn="ctr"/>
            <a:r>
              <a:rPr sz="1200" b="0" i="1" spc="150">
                <a:solidFill>
                  <a:srgbClr val="8D97AB"/>
                </a:solidFill>
                <a:latin typeface="Calibri"/>
              </a:rPr>
              <a:t>an integrated guide  ·  for the Bobs  ·  part of the Bobology series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